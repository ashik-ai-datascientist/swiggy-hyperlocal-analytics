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B2BB1-E521-4D83-B038-947D46442F6E}" v="21" dt="2026-05-13T12:27:41.8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216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ik .m.asharaf" userId="074ab7eddb0e18b0" providerId="LiveId" clId="{AB2CE1E2-D360-4FEA-BBAC-51795F96D8A8}"/>
    <pc:docChg chg="undo custSel delSld modSld">
      <pc:chgData name="ashik .m.asharaf" userId="074ab7eddb0e18b0" providerId="LiveId" clId="{AB2CE1E2-D360-4FEA-BBAC-51795F96D8A8}" dt="2026-05-13T12:30:57.505" v="548" actId="478"/>
      <pc:docMkLst>
        <pc:docMk/>
      </pc:docMkLst>
      <pc:sldChg chg="addSp delSp modSp mod setBg">
        <pc:chgData name="ashik .m.asharaf" userId="074ab7eddb0e18b0" providerId="LiveId" clId="{AB2CE1E2-D360-4FEA-BBAC-51795F96D8A8}" dt="2026-05-13T12:30:57.505" v="548" actId="478"/>
        <pc:sldMkLst>
          <pc:docMk/>
          <pc:sldMk cId="0" sldId="256"/>
        </pc:sldMkLst>
        <pc:spChg chg="mod">
          <ac:chgData name="ashik .m.asharaf" userId="074ab7eddb0e18b0" providerId="LiveId" clId="{AB2CE1E2-D360-4FEA-BBAC-51795F96D8A8}" dt="2026-05-13T12:17:47.437" v="90" actId="20577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ashik .m.asharaf" userId="074ab7eddb0e18b0" providerId="LiveId" clId="{AB2CE1E2-D360-4FEA-BBAC-51795F96D8A8}" dt="2026-05-13T12:30:57.505" v="548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ashik .m.asharaf" userId="074ab7eddb0e18b0" providerId="LiveId" clId="{AB2CE1E2-D360-4FEA-BBAC-51795F96D8A8}" dt="2026-05-13T12:30:33.346" v="547" actId="20577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ashik .m.asharaf" userId="074ab7eddb0e18b0" providerId="LiveId" clId="{AB2CE1E2-D360-4FEA-BBAC-51795F96D8A8}" dt="2026-05-13T12:29:03.831" v="543" actId="20577"/>
          <ac:spMkLst>
            <pc:docMk/>
            <pc:sldMk cId="0" sldId="256"/>
            <ac:spMk id="5" creationId="{A84AB484-A315-3362-97E9-D2878988CBB8}"/>
          </ac:spMkLst>
        </pc:spChg>
      </pc:sldChg>
      <pc:sldChg chg="setBg">
        <pc:chgData name="ashik .m.asharaf" userId="074ab7eddb0e18b0" providerId="LiveId" clId="{AB2CE1E2-D360-4FEA-BBAC-51795F96D8A8}" dt="2026-05-13T12:12:32.344" v="1"/>
        <pc:sldMkLst>
          <pc:docMk/>
          <pc:sldMk cId="0" sldId="257"/>
        </pc:sldMkLst>
      </pc:sldChg>
      <pc:sldChg chg="setBg">
        <pc:chgData name="ashik .m.asharaf" userId="074ab7eddb0e18b0" providerId="LiveId" clId="{AB2CE1E2-D360-4FEA-BBAC-51795F96D8A8}" dt="2026-05-13T12:12:37.964" v="2"/>
        <pc:sldMkLst>
          <pc:docMk/>
          <pc:sldMk cId="0" sldId="258"/>
        </pc:sldMkLst>
      </pc:sldChg>
      <pc:sldChg chg="setBg">
        <pc:chgData name="ashik .m.asharaf" userId="074ab7eddb0e18b0" providerId="LiveId" clId="{AB2CE1E2-D360-4FEA-BBAC-51795F96D8A8}" dt="2026-05-13T12:12:42.404" v="3"/>
        <pc:sldMkLst>
          <pc:docMk/>
          <pc:sldMk cId="0" sldId="259"/>
        </pc:sldMkLst>
      </pc:sldChg>
      <pc:sldChg chg="modSp mod setBg">
        <pc:chgData name="ashik .m.asharaf" userId="074ab7eddb0e18b0" providerId="LiveId" clId="{AB2CE1E2-D360-4FEA-BBAC-51795F96D8A8}" dt="2026-05-13T12:19:16.376" v="109" actId="20577"/>
        <pc:sldMkLst>
          <pc:docMk/>
          <pc:sldMk cId="0" sldId="260"/>
        </pc:sldMkLst>
        <pc:spChg chg="mod">
          <ac:chgData name="ashik .m.asharaf" userId="074ab7eddb0e18b0" providerId="LiveId" clId="{AB2CE1E2-D360-4FEA-BBAC-51795F96D8A8}" dt="2026-05-13T12:19:16.376" v="109" actId="20577"/>
          <ac:spMkLst>
            <pc:docMk/>
            <pc:sldMk cId="0" sldId="260"/>
            <ac:spMk id="15" creationId="{00000000-0000-0000-0000-000000000000}"/>
          </ac:spMkLst>
        </pc:spChg>
      </pc:sldChg>
      <pc:sldChg chg="modSp mod setBg">
        <pc:chgData name="ashik .m.asharaf" userId="074ab7eddb0e18b0" providerId="LiveId" clId="{AB2CE1E2-D360-4FEA-BBAC-51795F96D8A8}" dt="2026-05-13T12:19:42.049" v="117" actId="20577"/>
        <pc:sldMkLst>
          <pc:docMk/>
          <pc:sldMk cId="0" sldId="261"/>
        </pc:sldMkLst>
        <pc:spChg chg="mod">
          <ac:chgData name="ashik .m.asharaf" userId="074ab7eddb0e18b0" providerId="LiveId" clId="{AB2CE1E2-D360-4FEA-BBAC-51795F96D8A8}" dt="2026-05-13T12:19:42.049" v="117" actId="20577"/>
          <ac:spMkLst>
            <pc:docMk/>
            <pc:sldMk cId="0" sldId="261"/>
            <ac:spMk id="8" creationId="{00000000-0000-0000-0000-000000000000}"/>
          </ac:spMkLst>
        </pc:spChg>
      </pc:sldChg>
      <pc:sldChg chg="setBg">
        <pc:chgData name="ashik .m.asharaf" userId="074ab7eddb0e18b0" providerId="LiveId" clId="{AB2CE1E2-D360-4FEA-BBAC-51795F96D8A8}" dt="2026-05-13T12:12:59.729" v="6"/>
        <pc:sldMkLst>
          <pc:docMk/>
          <pc:sldMk cId="0" sldId="262"/>
        </pc:sldMkLst>
      </pc:sldChg>
      <pc:sldChg chg="modSp mod setBg">
        <pc:chgData name="ashik .m.asharaf" userId="074ab7eddb0e18b0" providerId="LiveId" clId="{AB2CE1E2-D360-4FEA-BBAC-51795F96D8A8}" dt="2026-05-13T12:20:36.826" v="131" actId="20577"/>
        <pc:sldMkLst>
          <pc:docMk/>
          <pc:sldMk cId="0" sldId="263"/>
        </pc:sldMkLst>
        <pc:spChg chg="mod">
          <ac:chgData name="ashik .m.asharaf" userId="074ab7eddb0e18b0" providerId="LiveId" clId="{AB2CE1E2-D360-4FEA-BBAC-51795F96D8A8}" dt="2026-05-13T12:20:36.826" v="131" actId="20577"/>
          <ac:spMkLst>
            <pc:docMk/>
            <pc:sldMk cId="0" sldId="263"/>
            <ac:spMk id="5" creationId="{00000000-0000-0000-0000-000000000000}"/>
          </ac:spMkLst>
        </pc:spChg>
      </pc:sldChg>
      <pc:sldChg chg="modSp mod setBg">
        <pc:chgData name="ashik .m.asharaf" userId="074ab7eddb0e18b0" providerId="LiveId" clId="{AB2CE1E2-D360-4FEA-BBAC-51795F96D8A8}" dt="2026-05-13T12:21:55.645" v="165" actId="20577"/>
        <pc:sldMkLst>
          <pc:docMk/>
          <pc:sldMk cId="0" sldId="264"/>
        </pc:sldMkLst>
        <pc:spChg chg="mod">
          <ac:chgData name="ashik .m.asharaf" userId="074ab7eddb0e18b0" providerId="LiveId" clId="{AB2CE1E2-D360-4FEA-BBAC-51795F96D8A8}" dt="2026-05-13T12:21:35.696" v="160" actId="5793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shik .m.asharaf" userId="074ab7eddb0e18b0" providerId="LiveId" clId="{AB2CE1E2-D360-4FEA-BBAC-51795F96D8A8}" dt="2026-05-13T12:21:55.645" v="165" actId="20577"/>
          <ac:spMkLst>
            <pc:docMk/>
            <pc:sldMk cId="0" sldId="264"/>
            <ac:spMk id="13" creationId="{00000000-0000-0000-0000-000000000000}"/>
          </ac:spMkLst>
        </pc:spChg>
      </pc:sldChg>
      <pc:sldChg chg="setBg">
        <pc:chgData name="ashik .m.asharaf" userId="074ab7eddb0e18b0" providerId="LiveId" clId="{AB2CE1E2-D360-4FEA-BBAC-51795F96D8A8}" dt="2026-05-13T12:13:13.838" v="9"/>
        <pc:sldMkLst>
          <pc:docMk/>
          <pc:sldMk cId="0" sldId="265"/>
        </pc:sldMkLst>
      </pc:sldChg>
      <pc:sldChg chg="setBg">
        <pc:chgData name="ashik .m.asharaf" userId="074ab7eddb0e18b0" providerId="LiveId" clId="{AB2CE1E2-D360-4FEA-BBAC-51795F96D8A8}" dt="2026-05-13T12:13:19.481" v="10"/>
        <pc:sldMkLst>
          <pc:docMk/>
          <pc:sldMk cId="0" sldId="266"/>
        </pc:sldMkLst>
      </pc:sldChg>
      <pc:sldChg chg="modSp mod setBg">
        <pc:chgData name="ashik .m.asharaf" userId="074ab7eddb0e18b0" providerId="LiveId" clId="{AB2CE1E2-D360-4FEA-BBAC-51795F96D8A8}" dt="2026-05-13T12:24:17.946" v="391" actId="1076"/>
        <pc:sldMkLst>
          <pc:docMk/>
          <pc:sldMk cId="0" sldId="267"/>
        </pc:sldMkLst>
        <pc:spChg chg="mod">
          <ac:chgData name="ashik .m.asharaf" userId="074ab7eddb0e18b0" providerId="LiveId" clId="{AB2CE1E2-D360-4FEA-BBAC-51795F96D8A8}" dt="2026-05-13T12:23:37.129" v="329" actId="14100"/>
          <ac:spMkLst>
            <pc:docMk/>
            <pc:sldMk cId="0" sldId="267"/>
            <ac:spMk id="4" creationId="{00000000-0000-0000-0000-000000000000}"/>
          </ac:spMkLst>
        </pc:spChg>
        <pc:spChg chg="mod">
          <ac:chgData name="ashik .m.asharaf" userId="074ab7eddb0e18b0" providerId="LiveId" clId="{AB2CE1E2-D360-4FEA-BBAC-51795F96D8A8}" dt="2026-05-13T12:24:17.946" v="391" actId="1076"/>
          <ac:spMkLst>
            <pc:docMk/>
            <pc:sldMk cId="0" sldId="267"/>
            <ac:spMk id="7" creationId="{00000000-0000-0000-0000-000000000000}"/>
          </ac:spMkLst>
        </pc:spChg>
      </pc:sldChg>
      <pc:sldChg chg="del setBg">
        <pc:chgData name="ashik .m.asharaf" userId="074ab7eddb0e18b0" providerId="LiveId" clId="{AB2CE1E2-D360-4FEA-BBAC-51795F96D8A8}" dt="2026-05-13T12:13:35.944" v="13" actId="47"/>
        <pc:sldMkLst>
          <pc:docMk/>
          <pc:sldMk cId="0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98146" y="7684321"/>
            <a:ext cx="1570990" cy="0"/>
          </a:xfrm>
          <a:custGeom>
            <a:avLst/>
            <a:gdLst/>
            <a:ahLst/>
            <a:cxnLst/>
            <a:rect l="l" t="t" r="r" b="b"/>
            <a:pathLst>
              <a:path w="1570990">
                <a:moveTo>
                  <a:pt x="0" y="0"/>
                </a:moveTo>
                <a:lnTo>
                  <a:pt x="1570632" y="0"/>
                </a:lnTo>
              </a:path>
            </a:pathLst>
          </a:custGeom>
          <a:ln w="23559">
            <a:solidFill>
              <a:srgbClr val="0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305999" y="7652908"/>
            <a:ext cx="1555115" cy="0"/>
          </a:xfrm>
          <a:custGeom>
            <a:avLst/>
            <a:gdLst/>
            <a:ahLst/>
            <a:cxnLst/>
            <a:rect l="l" t="t" r="r" b="b"/>
            <a:pathLst>
              <a:path w="1555115">
                <a:moveTo>
                  <a:pt x="0" y="0"/>
                </a:moveTo>
                <a:lnTo>
                  <a:pt x="1554926" y="0"/>
                </a:lnTo>
              </a:path>
            </a:pathLst>
          </a:custGeom>
          <a:ln w="23559">
            <a:solidFill>
              <a:srgbClr val="0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9584" y="3149118"/>
            <a:ext cx="10004931" cy="81672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3141265"/>
            <a:ext cx="20088393" cy="848141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5706" y="4350653"/>
            <a:ext cx="20080605" cy="887730"/>
          </a:xfrm>
          <a:custGeom>
            <a:avLst/>
            <a:gdLst/>
            <a:ahLst/>
            <a:cxnLst/>
            <a:rect l="l" t="t" r="r" b="b"/>
            <a:pathLst>
              <a:path w="20080605" h="887729">
                <a:moveTo>
                  <a:pt x="20080541" y="887407"/>
                </a:moveTo>
                <a:lnTo>
                  <a:pt x="0" y="88740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874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60797" y="3868726"/>
            <a:ext cx="9084944" cy="161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5654278"/>
            <a:ext cx="20088393" cy="125650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5706" y="4130764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10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9065" y="925752"/>
            <a:ext cx="12895192" cy="850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0413" y="5224051"/>
            <a:ext cx="18312765" cy="2394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shik-ai-datascientist.github.io/Portfolio/" TargetMode="External"/><Relationship Id="rId2" Type="http://schemas.openxmlformats.org/officeDocument/2006/relationships/hyperlink" Target="mailto:ashikmasharaf@outlook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898650" y="1844675"/>
            <a:ext cx="17526000" cy="321818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0400" spc="-1215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  <a:t>HYPER   LOCAL   RESTAURANT SUCCESS   PREDICTION</a:t>
            </a:r>
            <a:endParaRPr sz="10400" dirty="0">
              <a:solidFill>
                <a:schemeClr val="accent6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0050" y="5644955"/>
            <a:ext cx="13754100" cy="594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857615" algn="l"/>
              </a:tabLst>
            </a:pPr>
            <a:r>
              <a:rPr sz="3700" dirty="0">
                <a:solidFill>
                  <a:srgbClr val="F6F6F6"/>
                </a:solidFill>
                <a:latin typeface="Calibri"/>
                <a:cs typeface="Calibri"/>
              </a:rPr>
              <a:t>A</a:t>
            </a:r>
            <a:r>
              <a:rPr sz="3700" spc="390" dirty="0">
                <a:solidFill>
                  <a:srgbClr val="F6F6F6"/>
                </a:solidFill>
                <a:latin typeface="Calibri"/>
                <a:cs typeface="Calibri"/>
              </a:rPr>
              <a:t> </a:t>
            </a:r>
            <a:r>
              <a:rPr sz="3700" spc="140" dirty="0">
                <a:solidFill>
                  <a:srgbClr val="FFFFFF"/>
                </a:solidFill>
                <a:latin typeface="Calibri"/>
                <a:cs typeface="Calibri"/>
              </a:rPr>
              <a:t>Data-Driven</a:t>
            </a:r>
            <a:r>
              <a:rPr sz="3700" spc="3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700" spc="100" dirty="0">
                <a:solidFill>
                  <a:srgbClr val="FFFFFF"/>
                </a:solidFill>
                <a:latin typeface="Calibri"/>
                <a:cs typeface="Calibri"/>
              </a:rPr>
              <a:t>Strategy</a:t>
            </a:r>
            <a:r>
              <a:rPr sz="3700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700" spc="80" dirty="0">
                <a:solidFill>
                  <a:srgbClr val="E9E9E9"/>
                </a:solidFill>
                <a:latin typeface="Calibri"/>
                <a:cs typeface="Calibri"/>
              </a:rPr>
              <a:t>for</a:t>
            </a:r>
            <a:r>
              <a:rPr sz="3700" spc="90" dirty="0">
                <a:solidFill>
                  <a:srgbClr val="E9E9E9"/>
                </a:solidFill>
                <a:latin typeface="Calibri"/>
                <a:cs typeface="Calibri"/>
              </a:rPr>
              <a:t> </a:t>
            </a:r>
            <a:r>
              <a:rPr sz="3700" spc="120" dirty="0">
                <a:solidFill>
                  <a:srgbClr val="FFFFFF"/>
                </a:solidFill>
                <a:latin typeface="Calibri"/>
                <a:cs typeface="Calibri"/>
              </a:rPr>
              <a:t>Hyperlocal</a:t>
            </a:r>
            <a:r>
              <a:rPr sz="3700" spc="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700" spc="95" dirty="0">
                <a:solidFill>
                  <a:srgbClr val="EDEDED"/>
                </a:solidFill>
                <a:latin typeface="Calibri"/>
                <a:cs typeface="Calibri"/>
              </a:rPr>
              <a:t>ROI</a:t>
            </a:r>
            <a:r>
              <a:rPr sz="3700" dirty="0">
                <a:solidFill>
                  <a:srgbClr val="EDEDED"/>
                </a:solidFill>
                <a:latin typeface="Calibri"/>
                <a:cs typeface="Calibri"/>
              </a:rPr>
              <a:t>	and</a:t>
            </a:r>
            <a:r>
              <a:rPr sz="3700" spc="195" dirty="0">
                <a:solidFill>
                  <a:srgbClr val="EDEDED"/>
                </a:solidFill>
                <a:latin typeface="Calibri"/>
                <a:cs typeface="Calibri"/>
              </a:rPr>
              <a:t> </a:t>
            </a:r>
            <a:r>
              <a:rPr sz="3700" spc="105" dirty="0">
                <a:solidFill>
                  <a:srgbClr val="FFFFFF"/>
                </a:solidFill>
                <a:latin typeface="Calibri"/>
                <a:cs typeface="Calibri"/>
              </a:rPr>
              <a:t>Market</a:t>
            </a:r>
            <a:r>
              <a:rPr sz="3700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700" spc="95" dirty="0" err="1">
                <a:solidFill>
                  <a:srgbClr val="FFFFFF"/>
                </a:solidFill>
                <a:latin typeface="Calibri"/>
                <a:cs typeface="Calibri"/>
              </a:rPr>
              <a:t>Penetratio</a:t>
            </a:r>
            <a:r>
              <a:rPr lang="en-IN" sz="3700" spc="9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3700" dirty="0"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AB484-A315-3362-97E9-D2878988CBB8}"/>
              </a:ext>
            </a:extLst>
          </p:cNvPr>
          <p:cNvSpPr txBox="1"/>
          <p:nvPr/>
        </p:nvSpPr>
        <p:spPr>
          <a:xfrm>
            <a:off x="8604250" y="7254875"/>
            <a:ext cx="10820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Project Designed and Prepared by:</a:t>
            </a:r>
          </a:p>
          <a:p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Ashik M Asharaf</a:t>
            </a:r>
          </a:p>
          <a:p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  <a:hlinkClick r:id="rId2"/>
              </a:rPr>
              <a:t>Email: ashikmasharaf@outlook.com</a:t>
            </a:r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LinkedIn: www.linkedin.com/in/ashik-muhammad-asharaf-ai-data-scientist</a:t>
            </a:r>
          </a:p>
          <a:p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Portfolio: </a:t>
            </a:r>
            <a:r>
              <a:rPr lang="en-IN" dirty="0">
                <a:hlinkClick r:id="rId3"/>
              </a:rPr>
              <a:t>Ashik</a:t>
            </a:r>
            <a:r>
              <a:rPr lang="en-IN" dirty="0">
                <a:hlinkClick r:id="rId3"/>
              </a:rPr>
              <a:t> Muhammad Asharaf – Portfolio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36046" y="3963618"/>
            <a:ext cx="438721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-335" dirty="0">
                <a:solidFill>
                  <a:srgbClr val="EDEDED"/>
                </a:solidFill>
              </a:rPr>
              <a:t>THE</a:t>
            </a:r>
            <a:r>
              <a:rPr sz="4100" spc="-60" dirty="0">
                <a:solidFill>
                  <a:srgbClr val="EDEDED"/>
                </a:solidFill>
              </a:rPr>
              <a:t> </a:t>
            </a:r>
            <a:r>
              <a:rPr sz="4100" spc="-90" dirty="0">
                <a:solidFill>
                  <a:srgbClr val="F0F0F0"/>
                </a:solidFill>
              </a:rPr>
              <a:t>BOTTOM</a:t>
            </a:r>
            <a:r>
              <a:rPr sz="4100" spc="-165" dirty="0">
                <a:solidFill>
                  <a:srgbClr val="F0F0F0"/>
                </a:solidFill>
              </a:rPr>
              <a:t> </a:t>
            </a:r>
            <a:r>
              <a:rPr sz="4100" spc="-325" dirty="0">
                <a:solidFill>
                  <a:srgbClr val="EDEDED"/>
                </a:solidFill>
              </a:rPr>
              <a:t>LINE</a:t>
            </a:r>
            <a:endParaRPr sz="4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926673"/>
            <a:ext cx="20080605" cy="966469"/>
          </a:xfrm>
          <a:custGeom>
            <a:avLst/>
            <a:gdLst/>
            <a:ahLst/>
            <a:cxnLst/>
            <a:rect l="l" t="t" r="r" b="b"/>
            <a:pathLst>
              <a:path w="20080605" h="966469">
                <a:moveTo>
                  <a:pt x="20080541" y="965939"/>
                </a:moveTo>
                <a:lnTo>
                  <a:pt x="0" y="96593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65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888" y="942113"/>
            <a:ext cx="11110595" cy="830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22275" algn="l"/>
                <a:tab pos="5735955" algn="l"/>
              </a:tabLst>
            </a:pPr>
            <a:r>
              <a:rPr spc="-725" dirty="0">
                <a:solidFill>
                  <a:srgbClr val="1C0000"/>
                </a:solidFill>
              </a:rPr>
              <a:t>t</a:t>
            </a:r>
            <a:r>
              <a:rPr dirty="0">
                <a:solidFill>
                  <a:srgbClr val="1C0000"/>
                </a:solidFill>
              </a:rPr>
              <a:t>	</a:t>
            </a:r>
            <a:r>
              <a:rPr spc="-10" dirty="0"/>
              <a:t>METHODOLOGY</a:t>
            </a:r>
            <a:r>
              <a:rPr dirty="0"/>
              <a:t>	&amp;</a:t>
            </a:r>
            <a:r>
              <a:rPr spc="420" dirty="0"/>
              <a:t> </a:t>
            </a:r>
            <a:r>
              <a:rPr dirty="0"/>
              <a:t>DATA</a:t>
            </a:r>
            <a:r>
              <a:rPr spc="125" dirty="0"/>
              <a:t> </a:t>
            </a:r>
            <a:r>
              <a:rPr spc="-340" dirty="0"/>
              <a:t>PIPELINE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706" y="4303533"/>
            <a:ext cx="20088860" cy="785495"/>
            <a:chOff x="15706" y="4303533"/>
            <a:chExt cx="20088860" cy="7854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68687" y="4303533"/>
              <a:ext cx="4209295" cy="7853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17569" y="4334946"/>
              <a:ext cx="4209295" cy="722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7863" y="4303533"/>
              <a:ext cx="4209295" cy="7853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4303533"/>
              <a:ext cx="20088393" cy="785316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15706" y="5544333"/>
            <a:ext cx="20080605" cy="432434"/>
          </a:xfrm>
          <a:custGeom>
            <a:avLst/>
            <a:gdLst/>
            <a:ahLst/>
            <a:cxnLst/>
            <a:rect l="l" t="t" r="r" b="b"/>
            <a:pathLst>
              <a:path w="20080605" h="432435">
                <a:moveTo>
                  <a:pt x="20080541" y="431924"/>
                </a:moveTo>
                <a:lnTo>
                  <a:pt x="0" y="43192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31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17405" y="5428888"/>
            <a:ext cx="3283585" cy="516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84505" algn="l"/>
              </a:tabLst>
            </a:pP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285" dirty="0">
                <a:solidFill>
                  <a:srgbClr val="FFFFFF"/>
                </a:solidFill>
                <a:latin typeface="Calibri"/>
                <a:cs typeface="Calibri"/>
              </a:rPr>
              <a:t>Segmentation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46227" y="5445249"/>
            <a:ext cx="2927350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spc="405" dirty="0">
                <a:solidFill>
                  <a:srgbClr val="FFFFFF"/>
                </a:solidFill>
                <a:latin typeface="Calibri"/>
                <a:cs typeface="Calibri"/>
              </a:rPr>
              <a:t>Success</a:t>
            </a:r>
            <a:r>
              <a:rPr sz="31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spc="204" dirty="0">
                <a:solidFill>
                  <a:srgbClr val="FFFFFF"/>
                </a:solidFill>
                <a:latin typeface="Calibri"/>
                <a:cs typeface="Calibri"/>
              </a:rPr>
              <a:t>Metric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872612" y="5412527"/>
            <a:ext cx="2567940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FFFFFF"/>
                </a:solidFill>
                <a:latin typeface="Arial MT"/>
                <a:cs typeface="Arial MT"/>
              </a:rPr>
              <a:t>Gap</a:t>
            </a:r>
            <a:r>
              <a:rPr sz="335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-1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endParaRPr sz="335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706" y="6439594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19133" y="6326766"/>
            <a:ext cx="431927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45" dirty="0">
                <a:solidFill>
                  <a:srgbClr val="F4F4F4"/>
                </a:solidFill>
                <a:latin typeface="Calibri"/>
                <a:cs typeface="Calibri"/>
              </a:rPr>
              <a:t>Leveraged</a:t>
            </a:r>
            <a:r>
              <a:rPr sz="2700" spc="4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85" dirty="0">
                <a:solidFill>
                  <a:srgbClr val="F2F2F2"/>
                </a:solidFill>
                <a:latin typeface="Calibri"/>
                <a:cs typeface="Calibri"/>
              </a:rPr>
              <a:t>TF-</a:t>
            </a:r>
            <a:r>
              <a:rPr sz="2700" spc="90" dirty="0">
                <a:solidFill>
                  <a:srgbClr val="F2F2F2"/>
                </a:solidFill>
                <a:latin typeface="Calibri"/>
                <a:cs typeface="Calibri"/>
              </a:rPr>
              <a:t>IDF</a:t>
            </a:r>
            <a:r>
              <a:rPr sz="2700" spc="-15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4F4F4"/>
                </a:solidFill>
                <a:latin typeface="Calibri"/>
                <a:cs typeface="Calibri"/>
              </a:rPr>
              <a:t>Vectorization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43569" y="6326766"/>
            <a:ext cx="472503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Created</a:t>
            </a:r>
            <a:r>
              <a:rPr sz="2700" spc="-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F6F6F6"/>
                </a:solidFill>
                <a:latin typeface="Calibri"/>
                <a:cs typeface="Calibri"/>
              </a:rPr>
              <a:t>a</a:t>
            </a:r>
            <a:r>
              <a:rPr sz="2700" spc="-175" dirty="0">
                <a:solidFill>
                  <a:srgbClr val="F6F6F6"/>
                </a:solidFill>
                <a:latin typeface="Calibri"/>
                <a:cs typeface="Calibri"/>
              </a:rPr>
              <a:t> </a:t>
            </a:r>
            <a:r>
              <a:rPr sz="2700" spc="-65" dirty="0">
                <a:solidFill>
                  <a:srgbClr val="F2F2F2"/>
                </a:solidFill>
                <a:latin typeface="Calibri"/>
                <a:cs typeface="Calibri"/>
              </a:rPr>
              <a:t>weighted</a:t>
            </a:r>
            <a:r>
              <a:rPr sz="2700" spc="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4F4F4"/>
                </a:solidFill>
                <a:latin typeface="Calibri"/>
                <a:cs typeface="Calibri"/>
              </a:rPr>
              <a:t>’Success</a:t>
            </a:r>
            <a:r>
              <a:rPr sz="2700" spc="-6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4F4F4"/>
                </a:solidFill>
                <a:latin typeface="Calibri"/>
                <a:cs typeface="Calibri"/>
              </a:rPr>
              <a:t>Score’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878982" y="6326766"/>
            <a:ext cx="399415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Cross-referenced</a:t>
            </a:r>
            <a:r>
              <a:rPr sz="27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706" y="6942197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416848" y="6829369"/>
            <a:ext cx="449008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75" dirty="0">
                <a:solidFill>
                  <a:srgbClr val="F2F2F2"/>
                </a:solidFill>
                <a:latin typeface="Calibri"/>
                <a:cs typeface="Calibri"/>
              </a:rPr>
              <a:t>and</a:t>
            </a:r>
            <a:r>
              <a:rPr sz="2700" spc="-8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FFFFFF"/>
                </a:solidFill>
                <a:latin typeface="Calibri"/>
                <a:cs typeface="Calibri"/>
              </a:rPr>
              <a:t>K-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r>
              <a:rPr sz="27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Clustering</a:t>
            </a:r>
            <a:r>
              <a:rPr sz="27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70" dirty="0">
                <a:solidFill>
                  <a:srgbClr val="EBEBEB"/>
                </a:solidFill>
                <a:latin typeface="Calibri"/>
                <a:cs typeface="Calibri"/>
              </a:rPr>
              <a:t>to</a:t>
            </a:r>
            <a:r>
              <a:rPr sz="2700" spc="-135" dirty="0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EFEFEF"/>
                </a:solidFill>
                <a:latin typeface="Calibri"/>
                <a:cs typeface="Calibri"/>
              </a:rPr>
              <a:t>group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44739" y="6829369"/>
            <a:ext cx="399034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65" dirty="0">
                <a:solidFill>
                  <a:srgbClr val="FFFFFF"/>
                </a:solidFill>
                <a:latin typeface="Calibri"/>
                <a:cs typeface="Calibri"/>
              </a:rPr>
              <a:t>combining</a:t>
            </a:r>
            <a:r>
              <a:rPr sz="27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EFEFEF"/>
                </a:solidFill>
                <a:latin typeface="Calibri"/>
                <a:cs typeface="Calibri"/>
              </a:rPr>
              <a:t>rating</a:t>
            </a:r>
            <a:r>
              <a:rPr sz="2700" spc="-12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stability</a:t>
            </a:r>
            <a:r>
              <a:rPr sz="27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EFEFEF"/>
                </a:solidFill>
                <a:latin typeface="Calibri"/>
                <a:cs typeface="Calibri"/>
              </a:rPr>
              <a:t>and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879146" y="6829369"/>
            <a:ext cx="461772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density</a:t>
            </a:r>
            <a:r>
              <a:rPr sz="2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60" dirty="0">
                <a:solidFill>
                  <a:srgbClr val="EFEFEF"/>
                </a:solidFill>
                <a:latin typeface="Calibri"/>
                <a:cs typeface="Calibri"/>
              </a:rPr>
              <a:t>with</a:t>
            </a:r>
            <a:r>
              <a:rPr sz="2700" spc="-16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sz="27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40" dirty="0">
                <a:solidFill>
                  <a:srgbClr val="EFEFEF"/>
                </a:solidFill>
                <a:latin typeface="Calibri"/>
                <a:cs typeface="Calibri"/>
              </a:rPr>
              <a:t>deficits</a:t>
            </a:r>
            <a:r>
              <a:rPr sz="2700" spc="-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70" dirty="0">
                <a:solidFill>
                  <a:srgbClr val="F2F2F2"/>
                </a:solidFill>
                <a:latin typeface="Calibri"/>
                <a:cs typeface="Calibri"/>
              </a:rPr>
              <a:t>to</a:t>
            </a:r>
            <a:r>
              <a:rPr sz="2700" spc="-114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FFFFFF"/>
                </a:solidFill>
                <a:latin typeface="Calibri"/>
                <a:cs typeface="Calibri"/>
              </a:rPr>
              <a:t>find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706" y="7444799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413155" y="7331971"/>
            <a:ext cx="447929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60" dirty="0">
                <a:solidFill>
                  <a:srgbClr val="F7F7F7"/>
                </a:solidFill>
                <a:latin typeface="Calibri"/>
                <a:cs typeface="Calibri"/>
              </a:rPr>
              <a:t>200k+</a:t>
            </a:r>
            <a:r>
              <a:rPr sz="2700" spc="-55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restaurants</a:t>
            </a:r>
            <a:r>
              <a:rPr sz="270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4F4F4"/>
                </a:solidFill>
                <a:latin typeface="Calibri"/>
                <a:cs typeface="Calibri"/>
              </a:rPr>
              <a:t>into</a:t>
            </a:r>
            <a:r>
              <a:rPr sz="2700" spc="-105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EFEFEF"/>
                </a:solidFill>
                <a:latin typeface="Calibri"/>
                <a:cs typeface="Calibri"/>
              </a:rPr>
              <a:t>5</a:t>
            </a:r>
            <a:r>
              <a:rPr sz="2700" spc="-7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distinct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43735" y="7331971"/>
            <a:ext cx="471614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30" dirty="0">
                <a:solidFill>
                  <a:srgbClr val="F6F6F6"/>
                </a:solidFill>
                <a:latin typeface="Calibri"/>
                <a:cs typeface="Calibri"/>
              </a:rPr>
              <a:t>delivery</a:t>
            </a:r>
            <a:r>
              <a:rPr sz="2700" spc="-70" dirty="0">
                <a:solidFill>
                  <a:srgbClr val="F6F6F6"/>
                </a:solidFill>
                <a:latin typeface="Calibri"/>
                <a:cs typeface="Calibri"/>
              </a:rPr>
              <a:t> </a:t>
            </a:r>
            <a:r>
              <a:rPr sz="2700" spc="-80" dirty="0">
                <a:solidFill>
                  <a:srgbClr val="FFFFFF"/>
                </a:solidFill>
                <a:latin typeface="Calibri"/>
                <a:cs typeface="Calibri"/>
              </a:rPr>
              <a:t>volume</a:t>
            </a:r>
            <a:r>
              <a:rPr sz="27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70" dirty="0">
                <a:solidFill>
                  <a:srgbClr val="F4F4F4"/>
                </a:solidFill>
                <a:latin typeface="Calibri"/>
                <a:cs typeface="Calibri"/>
              </a:rPr>
              <a:t>to</a:t>
            </a:r>
            <a:r>
              <a:rPr sz="2700" spc="-114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F2F2F2"/>
                </a:solidFill>
                <a:latin typeface="Calibri"/>
                <a:cs typeface="Calibri"/>
              </a:rPr>
              <a:t>filter</a:t>
            </a:r>
            <a:r>
              <a:rPr sz="2700" spc="-7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EFEFEF"/>
                </a:solidFill>
                <a:latin typeface="Calibri"/>
                <a:cs typeface="Calibri"/>
              </a:rPr>
              <a:t>noise</a:t>
            </a:r>
            <a:r>
              <a:rPr sz="2700" spc="-9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F2F2F2"/>
                </a:solidFill>
                <a:latin typeface="Calibri"/>
                <a:cs typeface="Calibri"/>
              </a:rPr>
              <a:t>from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870421" y="7331971"/>
            <a:ext cx="436435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65" dirty="0">
                <a:solidFill>
                  <a:srgbClr val="FFFFFF"/>
                </a:solidFill>
                <a:latin typeface="Calibri"/>
                <a:cs typeface="Calibri"/>
              </a:rPr>
              <a:t>untapped</a:t>
            </a:r>
            <a:r>
              <a:rPr sz="27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FFFFFF"/>
                </a:solidFill>
                <a:latin typeface="Calibri"/>
                <a:cs typeface="Calibri"/>
              </a:rPr>
              <a:t>hyperlocal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55" dirty="0">
                <a:solidFill>
                  <a:srgbClr val="F0F0F0"/>
                </a:solidFill>
                <a:latin typeface="Calibri"/>
                <a:cs typeface="Calibri"/>
              </a:rPr>
              <a:t>gold</a:t>
            </a:r>
            <a:r>
              <a:rPr sz="2700" spc="-95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F2F2F2"/>
                </a:solidFill>
                <a:latin typeface="Calibri"/>
                <a:cs typeface="Calibri"/>
              </a:rPr>
              <a:t>mines.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5706" y="7947401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415691" y="7850934"/>
            <a:ext cx="256667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2550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FFFFFF"/>
                </a:solidFill>
                <a:latin typeface="Calibri"/>
                <a:cs typeface="Calibri"/>
              </a:rPr>
              <a:t>personas.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43250" y="7850934"/>
            <a:ext cx="181483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10" dirty="0">
                <a:solidFill>
                  <a:srgbClr val="FFFFFF"/>
                </a:solidFill>
                <a:latin typeface="Calibri"/>
                <a:cs typeface="Calibri"/>
              </a:rPr>
              <a:t>performance.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926673"/>
            <a:ext cx="20080605" cy="966469"/>
          </a:xfrm>
          <a:custGeom>
            <a:avLst/>
            <a:gdLst/>
            <a:ahLst/>
            <a:cxnLst/>
            <a:rect l="l" t="t" r="r" b="b"/>
            <a:pathLst>
              <a:path w="20080605" h="966469">
                <a:moveTo>
                  <a:pt x="20080541" y="965939"/>
                </a:moveTo>
                <a:lnTo>
                  <a:pt x="0" y="96593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65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888" y="942113"/>
            <a:ext cx="8511540" cy="830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22275" algn="l"/>
              </a:tabLst>
            </a:pPr>
            <a:r>
              <a:rPr spc="-725" dirty="0">
                <a:solidFill>
                  <a:srgbClr val="1C0000"/>
                </a:solidFill>
              </a:rPr>
              <a:t>t</a:t>
            </a:r>
            <a:r>
              <a:rPr dirty="0">
                <a:solidFill>
                  <a:srgbClr val="1C0000"/>
                </a:solidFill>
              </a:rPr>
              <a:t>	</a:t>
            </a:r>
            <a:r>
              <a:rPr spc="-45" dirty="0"/>
              <a:t>MARKET</a:t>
            </a:r>
            <a:r>
              <a:rPr spc="-165" dirty="0"/>
              <a:t> </a:t>
            </a:r>
            <a:r>
              <a:rPr spc="-114" dirty="0"/>
              <a:t>SEGMENTATION</a:t>
            </a:r>
          </a:p>
        </p:txBody>
      </p:sp>
      <p:sp>
        <p:nvSpPr>
          <p:cNvPr id="4" name="object 4"/>
          <p:cNvSpPr/>
          <p:nvPr/>
        </p:nvSpPr>
        <p:spPr>
          <a:xfrm>
            <a:off x="15706" y="3078440"/>
            <a:ext cx="20080605" cy="479425"/>
          </a:xfrm>
          <a:custGeom>
            <a:avLst/>
            <a:gdLst/>
            <a:ahLst/>
            <a:cxnLst/>
            <a:rect l="l" t="t" r="r" b="b"/>
            <a:pathLst>
              <a:path w="20080605" h="479425">
                <a:moveTo>
                  <a:pt x="20080541" y="479043"/>
                </a:moveTo>
                <a:lnTo>
                  <a:pt x="0" y="47904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790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706" y="4020820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706" y="4523422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913611" y="3026474"/>
            <a:ext cx="6917690" cy="18218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0"/>
              </a:spcBef>
            </a:pPr>
            <a:r>
              <a:rPr sz="3100" spc="140" dirty="0">
                <a:solidFill>
                  <a:srgbClr val="FFFFFF"/>
                </a:solidFill>
                <a:latin typeface="Arial MT"/>
                <a:cs typeface="Arial MT"/>
              </a:rPr>
              <a:t>Quick</a:t>
            </a:r>
            <a:r>
              <a:rPr sz="31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10" dirty="0">
                <a:solidFill>
                  <a:srgbClr val="FFFFFF"/>
                </a:solidFill>
                <a:latin typeface="Arial MT"/>
                <a:cs typeface="Arial MT"/>
              </a:rPr>
              <a:t>Service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(QSR)</a:t>
            </a:r>
            <a:endParaRPr sz="3100">
              <a:latin typeface="Arial MT"/>
              <a:cs typeface="Arial MT"/>
            </a:endParaRPr>
          </a:p>
          <a:p>
            <a:pPr marL="19050" marR="5080" indent="-6985">
              <a:lnSpc>
                <a:spcPct val="122100"/>
              </a:lnSpc>
              <a:spcBef>
                <a:spcPts val="2520"/>
              </a:spcBef>
            </a:pP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Beverages,</a:t>
            </a:r>
            <a:r>
              <a:rPr sz="27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40" dirty="0">
                <a:solidFill>
                  <a:srgbClr val="FFFFFF"/>
                </a:solidFill>
                <a:latin typeface="Calibri"/>
                <a:cs typeface="Calibri"/>
              </a:rPr>
              <a:t>snacks,</a:t>
            </a:r>
            <a:r>
              <a:rPr sz="27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85" dirty="0">
                <a:solidFill>
                  <a:srgbClr val="EDEDED"/>
                </a:solidFill>
                <a:latin typeface="Calibri"/>
                <a:cs typeface="Calibri"/>
              </a:rPr>
              <a:t>and</a:t>
            </a:r>
            <a:r>
              <a:rPr sz="2700" spc="-70" dirty="0">
                <a:solidFill>
                  <a:srgbClr val="EDEDED"/>
                </a:solidFill>
                <a:latin typeface="Calibri"/>
                <a:cs typeface="Calibri"/>
              </a:rPr>
              <a:t> </a:t>
            </a:r>
            <a:r>
              <a:rPr sz="2700" spc="-90" dirty="0">
                <a:solidFill>
                  <a:srgbClr val="FFFFFF"/>
                </a:solidFill>
                <a:latin typeface="Calibri"/>
                <a:cs typeface="Calibri"/>
              </a:rPr>
              <a:t>"impulse"</a:t>
            </a:r>
            <a:r>
              <a:rPr sz="27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55" dirty="0">
                <a:solidFill>
                  <a:srgbClr val="F0F0F0"/>
                </a:solidFill>
                <a:latin typeface="Calibri"/>
                <a:cs typeface="Calibri"/>
              </a:rPr>
              <a:t>categories.</a:t>
            </a:r>
            <a:r>
              <a:rPr sz="2700" spc="-85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EFEFEF"/>
                </a:solidFill>
                <a:latin typeface="Calibri"/>
                <a:cs typeface="Calibri"/>
              </a:rPr>
              <a:t>High </a:t>
            </a:r>
            <a:r>
              <a:rPr sz="2700" spc="-75" dirty="0">
                <a:solidFill>
                  <a:srgbClr val="FFFFFF"/>
                </a:solidFill>
                <a:latin typeface="Calibri"/>
                <a:cs typeface="Calibri"/>
              </a:rPr>
              <a:t>frequency,</a:t>
            </a:r>
            <a:r>
              <a:rPr sz="2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60" dirty="0">
                <a:solidFill>
                  <a:srgbClr val="F4F4F4"/>
                </a:solidFill>
                <a:latin typeface="Calibri"/>
                <a:cs typeface="Calibri"/>
              </a:rPr>
              <a:t>lower</a:t>
            </a:r>
            <a:r>
              <a:rPr sz="2700" spc="-95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EBEBEB"/>
                </a:solidFill>
                <a:latin typeface="Calibri"/>
                <a:cs typeface="Calibri"/>
              </a:rPr>
              <a:t>AOV.</a:t>
            </a:r>
            <a:r>
              <a:rPr sz="2700" spc="-150" dirty="0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4F4F4"/>
                </a:solidFill>
                <a:latin typeface="Calibri"/>
                <a:cs typeface="Calibri"/>
              </a:rPr>
              <a:t>Success</a:t>
            </a:r>
            <a:r>
              <a:rPr sz="2700" spc="-8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2F2F2"/>
                </a:solidFill>
                <a:latin typeface="Calibri"/>
                <a:cs typeface="Calibri"/>
              </a:rPr>
              <a:t>driven</a:t>
            </a:r>
            <a:r>
              <a:rPr sz="2700" spc="-12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EBEBEB"/>
                </a:solidFill>
                <a:latin typeface="Calibri"/>
                <a:cs typeface="Calibri"/>
              </a:rPr>
              <a:t>by</a:t>
            </a:r>
            <a:r>
              <a:rPr sz="2700" spc="-150" dirty="0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sz="2700" spc="-75" dirty="0">
                <a:solidFill>
                  <a:srgbClr val="FFFFFF"/>
                </a:solidFill>
                <a:latin typeface="Calibri"/>
                <a:cs typeface="Calibri"/>
              </a:rPr>
              <a:t>speed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0F0F0"/>
                </a:solidFill>
                <a:latin typeface="Calibri"/>
                <a:cs typeface="Calibri"/>
              </a:rPr>
              <a:t>and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06" y="5026025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04410" y="2993752"/>
            <a:ext cx="7751445" cy="2357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350" spc="195" dirty="0">
                <a:solidFill>
                  <a:srgbClr val="FFFFFF"/>
                </a:solidFill>
                <a:latin typeface="Calibri"/>
                <a:cs typeface="Calibri"/>
              </a:rPr>
              <a:t>Heritage</a:t>
            </a:r>
            <a:r>
              <a:rPr sz="33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50" spc="204" dirty="0">
                <a:solidFill>
                  <a:srgbClr val="FFFFFF"/>
                </a:solidFill>
                <a:latin typeface="Calibri"/>
                <a:cs typeface="Calibri"/>
              </a:rPr>
              <a:t>Staples</a:t>
            </a:r>
            <a:endParaRPr sz="3350">
              <a:latin typeface="Calibri"/>
              <a:cs typeface="Calibri"/>
            </a:endParaRPr>
          </a:p>
          <a:p>
            <a:pPr marL="25400" marR="5080" indent="1905" algn="just">
              <a:lnSpc>
                <a:spcPct val="122100"/>
              </a:lnSpc>
              <a:spcBef>
                <a:spcPts val="2465"/>
              </a:spcBef>
            </a:pPr>
            <a:r>
              <a:rPr sz="2700" spc="-60" dirty="0">
                <a:solidFill>
                  <a:srgbClr val="F0F0F0"/>
                </a:solidFill>
                <a:latin typeface="Calibri"/>
                <a:cs typeface="Calibri"/>
              </a:rPr>
              <a:t>High-</a:t>
            </a:r>
            <a:r>
              <a:rPr sz="2700" spc="-10" dirty="0">
                <a:solidFill>
                  <a:srgbClr val="F0F0F0"/>
                </a:solidFill>
                <a:latin typeface="Calibri"/>
                <a:cs typeface="Calibri"/>
              </a:rPr>
              <a:t>volume</a:t>
            </a:r>
            <a:r>
              <a:rPr sz="2700" spc="-145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4F4F4"/>
                </a:solidFill>
                <a:latin typeface="Calibri"/>
                <a:cs typeface="Calibri"/>
              </a:rPr>
              <a:t>North/South</a:t>
            </a:r>
            <a:r>
              <a:rPr sz="2700" spc="-114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60" dirty="0">
                <a:solidFill>
                  <a:srgbClr val="F2F2F2"/>
                </a:solidFill>
                <a:latin typeface="Calibri"/>
                <a:cs typeface="Calibri"/>
              </a:rPr>
              <a:t>Indian.</a:t>
            </a:r>
            <a:r>
              <a:rPr sz="2700" spc="-9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40" dirty="0">
                <a:solidFill>
                  <a:srgbClr val="F6F6F6"/>
                </a:solidFill>
                <a:latin typeface="Calibri"/>
                <a:cs typeface="Calibri"/>
              </a:rPr>
              <a:t>Dominates</a:t>
            </a:r>
            <a:r>
              <a:rPr sz="2700" spc="15" dirty="0">
                <a:solidFill>
                  <a:srgbClr val="F6F6F6"/>
                </a:solidFill>
                <a:latin typeface="Calibri"/>
                <a:cs typeface="Calibri"/>
              </a:rPr>
              <a:t> </a:t>
            </a:r>
            <a:r>
              <a:rPr sz="2700" spc="-40" dirty="0">
                <a:solidFill>
                  <a:srgbClr val="FFFFFF"/>
                </a:solidFill>
                <a:latin typeface="Calibri"/>
                <a:cs typeface="Calibri"/>
              </a:rPr>
              <a:t>daily</a:t>
            </a:r>
            <a:r>
              <a:rPr sz="27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dinner </a:t>
            </a:r>
            <a:r>
              <a:rPr sz="2700" spc="-45" dirty="0">
                <a:solidFill>
                  <a:srgbClr val="F0F0F0"/>
                </a:solidFill>
                <a:latin typeface="Calibri"/>
                <a:cs typeface="Calibri"/>
              </a:rPr>
              <a:t>cycles.</a:t>
            </a:r>
            <a:r>
              <a:rPr sz="2700" spc="-110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9F9F9"/>
                </a:solidFill>
                <a:latin typeface="Calibri"/>
                <a:cs typeface="Calibri"/>
              </a:rPr>
              <a:t>Highly</a:t>
            </a:r>
            <a:r>
              <a:rPr sz="2700" spc="-155" dirty="0">
                <a:solidFill>
                  <a:srgbClr val="F9F9F9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sensitive</a:t>
            </a:r>
            <a:r>
              <a:rPr sz="2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65" dirty="0">
                <a:solidFill>
                  <a:srgbClr val="F4F4F4"/>
                </a:solidFill>
                <a:latin typeface="Calibri"/>
                <a:cs typeface="Calibri"/>
              </a:rPr>
              <a:t>to</a:t>
            </a:r>
            <a:r>
              <a:rPr sz="2700" spc="1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sz="27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consistency</a:t>
            </a:r>
            <a:r>
              <a:rPr sz="270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F2F2F2"/>
                </a:solidFill>
                <a:latin typeface="Calibri"/>
                <a:cs typeface="Calibri"/>
              </a:rPr>
              <a:t>but</a:t>
            </a:r>
            <a:r>
              <a:rPr sz="2700" spc="-10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FFFFFF"/>
                </a:solidFill>
                <a:latin typeface="Calibri"/>
                <a:cs typeface="Calibri"/>
              </a:rPr>
              <a:t>tolerant </a:t>
            </a:r>
            <a:r>
              <a:rPr sz="2700" dirty="0">
                <a:solidFill>
                  <a:srgbClr val="EBEBEB"/>
                </a:solidFill>
                <a:latin typeface="Calibri"/>
                <a:cs typeface="Calibri"/>
              </a:rPr>
              <a:t>of</a:t>
            </a:r>
            <a:r>
              <a:rPr sz="2700" spc="-140" dirty="0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sz="2700" spc="-55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27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EDEDED"/>
                </a:solidFill>
                <a:latin typeface="Calibri"/>
                <a:cs typeface="Calibri"/>
              </a:rPr>
              <a:t>pricing.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16799" y="4913197"/>
            <a:ext cx="249110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55" dirty="0">
                <a:solidFill>
                  <a:srgbClr val="F4F4F4"/>
                </a:solidFill>
                <a:latin typeface="Calibri"/>
                <a:cs typeface="Calibri"/>
              </a:rPr>
              <a:t>location</a:t>
            </a:r>
            <a:r>
              <a:rPr sz="2700" spc="-35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75" dirty="0">
                <a:solidFill>
                  <a:srgbClr val="FFFFFF"/>
                </a:solidFill>
                <a:latin typeface="Calibri"/>
                <a:cs typeface="Calibri"/>
              </a:rPr>
              <a:t>proximity.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706" y="7256323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706" y="8151584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706" y="8654186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909488" y="7157238"/>
            <a:ext cx="7578090" cy="18218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spc="335" dirty="0">
                <a:solidFill>
                  <a:srgbClr val="FFFFFF"/>
                </a:solidFill>
                <a:latin typeface="Calibri"/>
                <a:cs typeface="Calibri"/>
              </a:rPr>
              <a:t>Indo-</a:t>
            </a:r>
            <a:r>
              <a:rPr sz="3100" spc="360" dirty="0">
                <a:solidFill>
                  <a:srgbClr val="FFFFFF"/>
                </a:solidFill>
                <a:latin typeface="Calibri"/>
                <a:cs typeface="Calibri"/>
              </a:rPr>
              <a:t>Chinese</a:t>
            </a:r>
            <a:r>
              <a:rPr sz="31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spc="300" dirty="0">
                <a:solidFill>
                  <a:srgbClr val="FFFFFF"/>
                </a:solidFill>
                <a:latin typeface="Calibri"/>
                <a:cs typeface="Calibri"/>
              </a:rPr>
              <a:t>Fusion</a:t>
            </a:r>
            <a:endParaRPr sz="3100">
              <a:latin typeface="Calibri"/>
              <a:cs typeface="Calibri"/>
            </a:endParaRPr>
          </a:p>
          <a:p>
            <a:pPr marL="27305" marR="5080">
              <a:lnSpc>
                <a:spcPct val="122100"/>
              </a:lnSpc>
              <a:spcBef>
                <a:spcPts val="2520"/>
              </a:spcBef>
            </a:pP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700" spc="-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"Working</a:t>
            </a:r>
            <a:r>
              <a:rPr sz="27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27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EFEFEF"/>
                </a:solidFill>
                <a:latin typeface="Calibri"/>
                <a:cs typeface="Calibri"/>
              </a:rPr>
              <a:t>Hero"</a:t>
            </a:r>
            <a:r>
              <a:rPr sz="2700" spc="-1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100" dirty="0">
                <a:solidFill>
                  <a:srgbClr val="FFFFFF"/>
                </a:solidFill>
                <a:latin typeface="Calibri"/>
                <a:cs typeface="Calibri"/>
              </a:rPr>
              <a:t>segment.</a:t>
            </a:r>
            <a:r>
              <a:rPr sz="2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4F4F4"/>
                </a:solidFill>
                <a:latin typeface="Calibri"/>
                <a:cs typeface="Calibri"/>
              </a:rPr>
              <a:t>Explosive</a:t>
            </a:r>
            <a:r>
              <a:rPr sz="2700" spc="-15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Calibri"/>
                <a:cs typeface="Calibri"/>
              </a:rPr>
              <a:t>growth </a:t>
            </a:r>
            <a:r>
              <a:rPr sz="2700" spc="-25" dirty="0">
                <a:solidFill>
                  <a:srgbClr val="EDEDED"/>
                </a:solidFill>
                <a:latin typeface="Calibri"/>
                <a:cs typeface="Calibri"/>
              </a:rPr>
              <a:t>in </a:t>
            </a:r>
            <a:r>
              <a:rPr sz="2700" dirty="0">
                <a:solidFill>
                  <a:srgbClr val="F6F6F6"/>
                </a:solidFill>
                <a:latin typeface="Calibri"/>
                <a:cs typeface="Calibri"/>
              </a:rPr>
              <a:t>Tier-2+</a:t>
            </a:r>
            <a:r>
              <a:rPr sz="2700" spc="35" dirty="0">
                <a:solidFill>
                  <a:srgbClr val="F6F6F6"/>
                </a:solidFill>
                <a:latin typeface="Calibri"/>
                <a:cs typeface="Calibri"/>
              </a:rPr>
              <a:t> </a:t>
            </a:r>
            <a:r>
              <a:rPr sz="2700" spc="-55" dirty="0">
                <a:solidFill>
                  <a:srgbClr val="F4F4F4"/>
                </a:solidFill>
                <a:latin typeface="Calibri"/>
                <a:cs typeface="Calibri"/>
              </a:rPr>
              <a:t>cities.</a:t>
            </a:r>
            <a:r>
              <a:rPr sz="2700" spc="-16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Highest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90" dirty="0">
                <a:solidFill>
                  <a:srgbClr val="FFFFFF"/>
                </a:solidFill>
                <a:latin typeface="Calibri"/>
                <a:cs typeface="Calibri"/>
              </a:rPr>
              <a:t>volume</a:t>
            </a:r>
            <a:r>
              <a:rPr sz="2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F2F2F2"/>
                </a:solidFill>
                <a:latin typeface="Calibri"/>
                <a:cs typeface="Calibri"/>
              </a:rPr>
              <a:t>per</a:t>
            </a:r>
            <a:r>
              <a:rPr sz="2700" spc="-7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70" dirty="0">
                <a:solidFill>
                  <a:srgbClr val="FFFFFF"/>
                </a:solidFill>
                <a:latin typeface="Calibri"/>
                <a:cs typeface="Calibri"/>
              </a:rPr>
              <a:t>ad-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spend</a:t>
            </a:r>
            <a:r>
              <a:rPr sz="27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40" dirty="0">
                <a:solidFill>
                  <a:srgbClr val="FFFFFF"/>
                </a:solidFill>
                <a:latin typeface="Calibri"/>
                <a:cs typeface="Calibri"/>
              </a:rPr>
              <a:t>ROI.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706" y="9156789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5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11244" y="7140878"/>
            <a:ext cx="7626984" cy="23412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spc="135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3200" spc="-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spc="160" dirty="0">
                <a:solidFill>
                  <a:srgbClr val="FFFFFF"/>
                </a:solidFill>
                <a:latin typeface="Cambria"/>
                <a:cs typeface="Cambria"/>
              </a:rPr>
              <a:t>Sweet</a:t>
            </a:r>
            <a:r>
              <a:rPr sz="3200" spc="1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spc="130" dirty="0">
                <a:solidFill>
                  <a:srgbClr val="FFFFFF"/>
                </a:solidFill>
                <a:latin typeface="Cambria"/>
                <a:cs typeface="Cambria"/>
              </a:rPr>
              <a:t>Tooth</a:t>
            </a:r>
            <a:endParaRPr sz="3200">
              <a:latin typeface="Cambria"/>
              <a:cs typeface="Cambria"/>
            </a:endParaRPr>
          </a:p>
          <a:p>
            <a:pPr marL="15875" marR="5080" indent="4445">
              <a:lnSpc>
                <a:spcPct val="122100"/>
              </a:lnSpc>
              <a:spcBef>
                <a:spcPts val="2500"/>
              </a:spcBef>
            </a:pP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Desserts</a:t>
            </a:r>
            <a:r>
              <a:rPr sz="27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95" dirty="0">
                <a:solidFill>
                  <a:srgbClr val="EFEFEF"/>
                </a:solidFill>
                <a:latin typeface="Calibri"/>
                <a:cs typeface="Calibri"/>
              </a:rPr>
              <a:t>and</a:t>
            </a:r>
            <a:r>
              <a:rPr sz="2700" spc="-7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80" dirty="0">
                <a:solidFill>
                  <a:srgbClr val="FFFFFF"/>
                </a:solidFill>
                <a:latin typeface="Calibri"/>
                <a:cs typeface="Calibri"/>
              </a:rPr>
              <a:t>bakeries.</a:t>
            </a:r>
            <a:r>
              <a:rPr sz="27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EFEFEF"/>
                </a:solidFill>
                <a:latin typeface="Calibri"/>
                <a:cs typeface="Calibri"/>
              </a:rPr>
              <a:t>High</a:t>
            </a:r>
            <a:r>
              <a:rPr sz="2700" spc="-12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6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270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EDEDED"/>
                </a:solidFill>
                <a:latin typeface="Calibri"/>
                <a:cs typeface="Calibri"/>
              </a:rPr>
              <a:t>loyalty</a:t>
            </a:r>
            <a:r>
              <a:rPr sz="2700" spc="-45" dirty="0">
                <a:solidFill>
                  <a:srgbClr val="EDEDED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EDEDED"/>
                </a:solidFill>
                <a:latin typeface="Calibri"/>
                <a:cs typeface="Calibri"/>
              </a:rPr>
              <a:t>and </a:t>
            </a:r>
            <a:r>
              <a:rPr sz="2700" spc="-95" dirty="0">
                <a:solidFill>
                  <a:srgbClr val="FFFFFF"/>
                </a:solidFill>
                <a:latin typeface="Calibri"/>
                <a:cs typeface="Calibri"/>
              </a:rPr>
              <a:t>premium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4F4F4"/>
                </a:solidFill>
                <a:latin typeface="Calibri"/>
                <a:cs typeface="Calibri"/>
              </a:rPr>
              <a:t>pricing</a:t>
            </a:r>
            <a:r>
              <a:rPr sz="2700" spc="-45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80" dirty="0">
                <a:solidFill>
                  <a:srgbClr val="FFFFFF"/>
                </a:solidFill>
                <a:latin typeface="Calibri"/>
                <a:cs typeface="Calibri"/>
              </a:rPr>
              <a:t>capacity.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10" dirty="0">
                <a:solidFill>
                  <a:srgbClr val="F4F4F4"/>
                </a:solidFill>
                <a:latin typeface="Calibri"/>
                <a:cs typeface="Calibri"/>
              </a:rPr>
              <a:t>Immune</a:t>
            </a:r>
            <a:r>
              <a:rPr sz="2700" spc="-4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6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7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40" dirty="0">
                <a:solidFill>
                  <a:srgbClr val="FFFFFF"/>
                </a:solidFill>
                <a:latin typeface="Calibri"/>
                <a:cs typeface="Calibri"/>
              </a:rPr>
              <a:t>standard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0" dirty="0">
                <a:solidFill>
                  <a:srgbClr val="F6F6F6"/>
                </a:solidFill>
                <a:latin typeface="Calibri"/>
                <a:cs typeface="Calibri"/>
              </a:rPr>
              <a:t>meal-</a:t>
            </a:r>
            <a:r>
              <a:rPr sz="2700" spc="-25" dirty="0">
                <a:solidFill>
                  <a:srgbClr val="F6F6F6"/>
                </a:solidFill>
                <a:latin typeface="Calibri"/>
                <a:cs typeface="Calibri"/>
              </a:rPr>
              <a:t>time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fluctuations.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926673"/>
            <a:ext cx="20080605" cy="966469"/>
          </a:xfrm>
          <a:custGeom>
            <a:avLst/>
            <a:gdLst/>
            <a:ahLst/>
            <a:cxnLst/>
            <a:rect l="l" t="t" r="r" b="b"/>
            <a:pathLst>
              <a:path w="20080605" h="966469">
                <a:moveTo>
                  <a:pt x="20080541" y="965939"/>
                </a:moveTo>
                <a:lnTo>
                  <a:pt x="0" y="96593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65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8176" y="958474"/>
            <a:ext cx="7331075" cy="810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2434" algn="l"/>
              </a:tabLst>
            </a:pPr>
            <a:r>
              <a:rPr sz="5150" spc="-695" dirty="0">
                <a:solidFill>
                  <a:srgbClr val="1C0000"/>
                </a:solidFill>
              </a:rPr>
              <a:t>t</a:t>
            </a:r>
            <a:r>
              <a:rPr sz="5150" dirty="0">
                <a:solidFill>
                  <a:srgbClr val="1C0000"/>
                </a:solidFill>
              </a:rPr>
              <a:t>	</a:t>
            </a:r>
            <a:r>
              <a:rPr sz="5150" spc="-350" dirty="0"/>
              <a:t>THE</a:t>
            </a:r>
            <a:r>
              <a:rPr sz="5150" spc="-10" dirty="0"/>
              <a:t> </a:t>
            </a:r>
            <a:r>
              <a:rPr sz="5150" dirty="0"/>
              <a:t>ROI</a:t>
            </a:r>
            <a:r>
              <a:rPr sz="5150" spc="-270" dirty="0"/>
              <a:t> </a:t>
            </a:r>
            <a:r>
              <a:rPr sz="5150" spc="-10" dirty="0"/>
              <a:t>NORTH</a:t>
            </a:r>
            <a:r>
              <a:rPr sz="5150" spc="-130" dirty="0"/>
              <a:t> </a:t>
            </a:r>
            <a:r>
              <a:rPr sz="5150" spc="-20" dirty="0"/>
              <a:t>STAR</a:t>
            </a:r>
            <a:endParaRPr sz="5150"/>
          </a:p>
        </p:txBody>
      </p:sp>
      <p:sp>
        <p:nvSpPr>
          <p:cNvPr id="4" name="object 4"/>
          <p:cNvSpPr/>
          <p:nvPr/>
        </p:nvSpPr>
        <p:spPr>
          <a:xfrm>
            <a:off x="15706" y="4711898"/>
            <a:ext cx="20080605" cy="636270"/>
          </a:xfrm>
          <a:custGeom>
            <a:avLst/>
            <a:gdLst/>
            <a:ahLst/>
            <a:cxnLst/>
            <a:rect l="l" t="t" r="r" b="b"/>
            <a:pathLst>
              <a:path w="20080605" h="636270">
                <a:moveTo>
                  <a:pt x="20080541" y="636106"/>
                </a:moveTo>
                <a:lnTo>
                  <a:pt x="0" y="63610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36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217785" y="4508105"/>
            <a:ext cx="6186805" cy="810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50" spc="-19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5150" spc="-4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150" spc="90" dirty="0">
                <a:solidFill>
                  <a:srgbClr val="FFFFFF"/>
                </a:solidFill>
                <a:latin typeface="Arial MT"/>
                <a:cs typeface="Arial MT"/>
              </a:rPr>
              <a:t>Quality</a:t>
            </a:r>
            <a:r>
              <a:rPr sz="5150" spc="-3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150" spc="70" dirty="0">
                <a:solidFill>
                  <a:srgbClr val="FFFFFF"/>
                </a:solidFill>
                <a:latin typeface="Arial MT"/>
                <a:cs typeface="Arial MT"/>
              </a:rPr>
              <a:t>Multiplier</a:t>
            </a:r>
            <a:endParaRPr sz="51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706" y="5560040"/>
            <a:ext cx="20080605" cy="1877060"/>
            <a:chOff x="15706" y="5560040"/>
            <a:chExt cx="20080605" cy="18770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065" y="5599305"/>
              <a:ext cx="1005205" cy="18140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2166" y="6533832"/>
              <a:ext cx="588987" cy="722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5159" y="6094055"/>
              <a:ext cx="337686" cy="98164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63245" y="5701397"/>
              <a:ext cx="235594" cy="7224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03579" y="5772075"/>
              <a:ext cx="636106" cy="6203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2268" y="5622865"/>
              <a:ext cx="2450187" cy="65966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41311" y="6431741"/>
              <a:ext cx="2717194" cy="9973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706" y="5560040"/>
              <a:ext cx="20080605" cy="1877060"/>
            </a:xfrm>
            <a:custGeom>
              <a:avLst/>
              <a:gdLst/>
              <a:ahLst/>
              <a:cxnLst/>
              <a:rect l="l" t="t" r="r" b="b"/>
              <a:pathLst>
                <a:path w="20080605" h="1877059">
                  <a:moveTo>
                    <a:pt x="20080541" y="1876906"/>
                  </a:moveTo>
                  <a:lnTo>
                    <a:pt x="0" y="1876906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1876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212617" y="5658593"/>
            <a:ext cx="10652125" cy="103060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solidFill>
                  <a:srgbClr val="EFEFEF"/>
                </a:solidFill>
                <a:latin typeface="Calibri"/>
                <a:cs typeface="Calibri"/>
              </a:rPr>
              <a:t>Our</a:t>
            </a:r>
            <a:r>
              <a:rPr sz="2800" spc="-16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800" spc="-85" dirty="0">
                <a:solidFill>
                  <a:srgbClr val="F2F2F2"/>
                </a:solidFill>
                <a:latin typeface="Calibri"/>
                <a:cs typeface="Calibri"/>
              </a:rPr>
              <a:t>predictive</a:t>
            </a:r>
            <a:r>
              <a:rPr sz="2800" spc="-7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F4F4F4"/>
                </a:solidFill>
                <a:latin typeface="Calibri"/>
                <a:cs typeface="Calibri"/>
              </a:rPr>
              <a:t>regression</a:t>
            </a:r>
            <a:r>
              <a:rPr sz="2800" spc="-9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800" spc="-165" dirty="0">
                <a:solidFill>
                  <a:srgbClr val="F0F0F0"/>
                </a:solidFill>
                <a:latin typeface="Calibri"/>
                <a:cs typeface="Calibri"/>
              </a:rPr>
              <a:t>model</a:t>
            </a:r>
            <a:r>
              <a:rPr sz="2800" spc="-10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800" spc="-75" dirty="0">
                <a:solidFill>
                  <a:srgbClr val="F2F2F2"/>
                </a:solidFill>
                <a:latin typeface="Calibri"/>
                <a:cs typeface="Calibri"/>
              </a:rPr>
              <a:t>reveals</a:t>
            </a:r>
            <a:r>
              <a:rPr sz="2800" spc="2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F0F0F0"/>
                </a:solidFill>
                <a:latin typeface="Calibri"/>
                <a:cs typeface="Calibri"/>
              </a:rPr>
              <a:t>that</a:t>
            </a:r>
            <a:r>
              <a:rPr sz="2800" spc="-45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Calibri"/>
                <a:cs typeface="Calibri"/>
              </a:rPr>
              <a:t>improving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EFEFEF"/>
                </a:solidFill>
                <a:latin typeface="Calibri"/>
                <a:cs typeface="Calibri"/>
              </a:rPr>
              <a:t>a</a:t>
            </a:r>
            <a:r>
              <a:rPr sz="2800" spc="-21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F4F4F4"/>
                </a:solidFill>
                <a:latin typeface="Calibri"/>
                <a:cs typeface="Calibri"/>
              </a:rPr>
              <a:t>restaurant's</a:t>
            </a:r>
            <a:r>
              <a:rPr sz="2800" spc="75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F2F2F2"/>
                </a:solidFill>
                <a:latin typeface="Calibri"/>
                <a:cs typeface="Calibri"/>
              </a:rPr>
              <a:t>rating</a:t>
            </a:r>
            <a:r>
              <a:rPr sz="2800" spc="-12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EBEBEB"/>
                </a:solidFill>
                <a:latin typeface="Calibri"/>
                <a:cs typeface="Calibri"/>
              </a:rPr>
              <a:t>by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  <a:tabLst>
                <a:tab pos="2980055" algn="l"/>
              </a:tabLst>
            </a:pPr>
            <a:r>
              <a:rPr sz="2800" spc="-10" dirty="0">
                <a:solidFill>
                  <a:srgbClr val="F4F4F4"/>
                </a:solidFill>
                <a:latin typeface="Calibri"/>
                <a:cs typeface="Calibri"/>
              </a:rPr>
              <a:t>0.5</a:t>
            </a:r>
            <a:r>
              <a:rPr sz="2800" spc="-15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2F2F2"/>
                </a:solidFill>
                <a:latin typeface="Calibri"/>
                <a:cs typeface="Calibri"/>
              </a:rPr>
              <a:t>stars</a:t>
            </a:r>
            <a:r>
              <a:rPr sz="2800" spc="-16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F2F2F2"/>
                </a:solidFill>
                <a:latin typeface="Calibri"/>
                <a:cs typeface="Calibri"/>
              </a:rPr>
              <a:t>provides</a:t>
            </a:r>
            <a:r>
              <a:rPr sz="2800" spc="-3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IN" sz="2800" spc="-25" dirty="0">
                <a:solidFill>
                  <a:srgbClr val="310000"/>
                </a:solidFill>
                <a:latin typeface="Calibri"/>
                <a:cs typeface="Calibri"/>
              </a:rPr>
              <a:t> </a:t>
            </a:r>
            <a:r>
              <a:rPr sz="2800" spc="-150" dirty="0">
                <a:solidFill>
                  <a:srgbClr val="F2F2F2"/>
                </a:solidFill>
                <a:latin typeface="Calibri"/>
                <a:cs typeface="Calibri"/>
              </a:rPr>
              <a:t>more</a:t>
            </a:r>
            <a:r>
              <a:rPr sz="2800" spc="-5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EFEFEF"/>
                </a:solidFill>
                <a:latin typeface="Calibri"/>
                <a:cs typeface="Calibri"/>
              </a:rPr>
              <a:t>value</a:t>
            </a:r>
            <a:r>
              <a:rPr sz="2800" spc="-8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800" spc="-75" dirty="0">
                <a:solidFill>
                  <a:srgbClr val="E8E8E8"/>
                </a:solidFill>
                <a:latin typeface="Calibri"/>
                <a:cs typeface="Calibri"/>
              </a:rPr>
              <a:t>in</a:t>
            </a:r>
            <a:r>
              <a:rPr sz="2800" spc="-125" dirty="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sz="2800" spc="-150" dirty="0">
                <a:solidFill>
                  <a:srgbClr val="EFEFEF"/>
                </a:solidFill>
                <a:latin typeface="Calibri"/>
                <a:cs typeface="Calibri"/>
              </a:rPr>
              <a:t>volume</a:t>
            </a:r>
            <a:r>
              <a:rPr sz="280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EFEFEF"/>
                </a:solidFill>
                <a:latin typeface="Calibri"/>
                <a:cs typeface="Calibri"/>
              </a:rPr>
              <a:t>growth</a:t>
            </a:r>
            <a:r>
              <a:rPr sz="2800" spc="-4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EFEFEF"/>
                </a:solidFill>
                <a:latin typeface="Calibri"/>
                <a:cs typeface="Calibri"/>
              </a:rPr>
              <a:t>than</a:t>
            </a:r>
            <a:r>
              <a:rPr sz="2800" spc="-8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EDEDED"/>
                </a:solidFill>
                <a:latin typeface="Calibri"/>
                <a:cs typeface="Calibri"/>
              </a:rPr>
              <a:t>a</a:t>
            </a:r>
            <a:r>
              <a:rPr sz="2800" spc="-320" dirty="0">
                <a:solidFill>
                  <a:srgbClr val="EDEDED"/>
                </a:solidFill>
                <a:latin typeface="Calibri"/>
                <a:cs typeface="Calibri"/>
              </a:rPr>
              <a:t> </a:t>
            </a:r>
            <a:r>
              <a:rPr lang="en-IN" sz="2800" spc="-320" dirty="0">
                <a:solidFill>
                  <a:srgbClr val="EDEDED"/>
                </a:solidFill>
                <a:latin typeface="Calibri"/>
                <a:cs typeface="Calibri"/>
              </a:rPr>
              <a:t>Rs. </a:t>
            </a:r>
            <a:r>
              <a:rPr sz="2800" dirty="0">
                <a:solidFill>
                  <a:srgbClr val="EBEBEB"/>
                </a:solidFill>
                <a:latin typeface="Calibri"/>
                <a:cs typeface="Calibri"/>
              </a:rPr>
              <a:t>100</a:t>
            </a:r>
            <a:r>
              <a:rPr sz="2800" spc="-5" dirty="0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sz="2800" spc="-85" dirty="0">
                <a:solidFill>
                  <a:srgbClr val="EDEDED"/>
                </a:solidFill>
                <a:latin typeface="Calibri"/>
                <a:cs typeface="Calibri"/>
              </a:rPr>
              <a:t>price</a:t>
            </a:r>
            <a:r>
              <a:rPr sz="2800" spc="-60" dirty="0">
                <a:solidFill>
                  <a:srgbClr val="EDEDED"/>
                </a:solidFill>
                <a:latin typeface="Calibri"/>
                <a:cs typeface="Calibri"/>
              </a:rPr>
              <a:t> </a:t>
            </a:r>
            <a:r>
              <a:rPr sz="2800" spc="-45" dirty="0">
                <a:solidFill>
                  <a:srgbClr val="EFEFEF"/>
                </a:solidFill>
                <a:latin typeface="Calibri"/>
                <a:cs typeface="Calibri"/>
              </a:rPr>
              <a:t>cut.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706" y="7680394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533827" y="7602905"/>
            <a:ext cx="379539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dirty="0">
                <a:solidFill>
                  <a:srgbClr val="FFFFFF"/>
                </a:solidFill>
                <a:latin typeface="Cambria"/>
                <a:cs typeface="Cambria"/>
              </a:rPr>
              <a:t>Success</a:t>
            </a:r>
            <a:r>
              <a:rPr sz="19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900" spc="114" dirty="0">
                <a:solidFill>
                  <a:srgbClr val="F6F6F6"/>
                </a:solidFill>
                <a:latin typeface="Cambria"/>
                <a:cs typeface="Cambria"/>
              </a:rPr>
              <a:t>=</a:t>
            </a:r>
            <a:r>
              <a:rPr sz="1900" spc="-5" dirty="0">
                <a:solidFill>
                  <a:srgbClr val="F6F6F6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FFFF"/>
                </a:solidFill>
                <a:latin typeface="Cambria"/>
                <a:cs typeface="Cambria"/>
              </a:rPr>
              <a:t>Rating</a:t>
            </a:r>
            <a:r>
              <a:rPr sz="1900" spc="2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FFFF"/>
                </a:solidFill>
                <a:latin typeface="Cambria"/>
                <a:cs typeface="Cambria"/>
              </a:rPr>
              <a:t>•</a:t>
            </a:r>
            <a:r>
              <a:rPr sz="1900" spc="2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FFFF"/>
                </a:solidFill>
                <a:latin typeface="Cambria"/>
                <a:cs typeface="Cambria"/>
              </a:rPr>
              <a:t>log</a:t>
            </a:r>
            <a:r>
              <a:rPr sz="1900" spc="2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sz="1900" spc="3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FFFF"/>
                </a:solidFill>
                <a:latin typeface="Cambria"/>
                <a:cs typeface="Cambria"/>
              </a:rPr>
              <a:t>(</a:t>
            </a:r>
            <a:r>
              <a:rPr sz="19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FFFF"/>
                </a:solidFill>
                <a:latin typeface="Cambria"/>
                <a:cs typeface="Cambria"/>
              </a:rPr>
              <a:t>Volume</a:t>
            </a:r>
            <a:r>
              <a:rPr sz="1900" spc="2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Cambria"/>
                <a:cs typeface="Cambria"/>
              </a:rPr>
              <a:t>)</a:t>
            </a:r>
            <a:endParaRPr sz="19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6015523"/>
            <a:ext cx="20088393" cy="6596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5073143"/>
            <a:ext cx="20088393" cy="65966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5706" y="926673"/>
            <a:ext cx="20080605" cy="966469"/>
          </a:xfrm>
          <a:custGeom>
            <a:avLst/>
            <a:gdLst/>
            <a:ahLst/>
            <a:cxnLst/>
            <a:rect l="l" t="t" r="r" b="b"/>
            <a:pathLst>
              <a:path w="20080605" h="966469">
                <a:moveTo>
                  <a:pt x="20080541" y="965939"/>
                </a:moveTo>
                <a:lnTo>
                  <a:pt x="0" y="96593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65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  <a:tabLst>
                <a:tab pos="454659" algn="l"/>
              </a:tabLst>
            </a:pPr>
            <a:r>
              <a:rPr spc="-725" dirty="0">
                <a:solidFill>
                  <a:srgbClr val="1C0000"/>
                </a:solidFill>
              </a:rPr>
              <a:t>t</a:t>
            </a:r>
            <a:r>
              <a:rPr dirty="0">
                <a:solidFill>
                  <a:srgbClr val="1C0000"/>
                </a:solidFill>
              </a:rPr>
              <a:t>	</a:t>
            </a:r>
            <a:r>
              <a:rPr spc="-260" dirty="0"/>
              <a:t>SUCCESS</a:t>
            </a:r>
            <a:r>
              <a:rPr spc="80" dirty="0"/>
              <a:t> </a:t>
            </a:r>
            <a:r>
              <a:rPr spc="-114" dirty="0"/>
              <a:t>DRIVERS:</a:t>
            </a:r>
            <a:r>
              <a:rPr dirty="0"/>
              <a:t> </a:t>
            </a:r>
            <a:r>
              <a:rPr spc="-10" dirty="0"/>
              <a:t>QUALITY</a:t>
            </a:r>
            <a:r>
              <a:rPr spc="155" dirty="0"/>
              <a:t> </a:t>
            </a:r>
            <a:r>
              <a:rPr dirty="0"/>
              <a:t>VS</a:t>
            </a:r>
            <a:r>
              <a:rPr spc="-220" dirty="0"/>
              <a:t> </a:t>
            </a:r>
            <a:r>
              <a:rPr spc="-305" dirty="0"/>
              <a:t>PRICE</a:t>
            </a:r>
          </a:p>
        </p:txBody>
      </p:sp>
      <p:sp>
        <p:nvSpPr>
          <p:cNvPr id="6" name="object 6"/>
          <p:cNvSpPr/>
          <p:nvPr/>
        </p:nvSpPr>
        <p:spPr>
          <a:xfrm>
            <a:off x="15706" y="3581042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706" y="4083645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29114" y="3377903"/>
            <a:ext cx="18206085" cy="1030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5080" indent="-1270">
              <a:lnSpc>
                <a:spcPct val="122100"/>
              </a:lnSpc>
              <a:spcBef>
                <a:spcPts val="100"/>
              </a:spcBef>
            </a:pP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Correlation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sz="270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4F4F4"/>
                </a:solidFill>
                <a:latin typeface="Calibri"/>
                <a:cs typeface="Calibri"/>
              </a:rPr>
              <a:t>shows</a:t>
            </a:r>
            <a:r>
              <a:rPr sz="2700" spc="6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6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2F2F2"/>
                </a:solidFill>
                <a:latin typeface="Calibri"/>
                <a:cs typeface="Calibri"/>
              </a:rPr>
              <a:t>Swiggy</a:t>
            </a:r>
            <a:r>
              <a:rPr sz="2700" spc="-1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sz="27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6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700" spc="-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Quality-Elastic</a:t>
            </a:r>
            <a:r>
              <a:rPr sz="2700" spc="-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60" dirty="0">
                <a:solidFill>
                  <a:srgbClr val="F2F2F2"/>
                </a:solidFill>
                <a:latin typeface="Calibri"/>
                <a:cs typeface="Calibri"/>
              </a:rPr>
              <a:t>but</a:t>
            </a:r>
            <a:r>
              <a:rPr sz="2700" spc="-15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Price-Inelastic.</a:t>
            </a:r>
            <a:r>
              <a:rPr sz="2700" spc="-2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Ratings</a:t>
            </a:r>
            <a:r>
              <a:rPr sz="27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drive</a:t>
            </a:r>
            <a:r>
              <a:rPr sz="27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2F2F2"/>
                </a:solidFill>
                <a:latin typeface="Calibri"/>
                <a:cs typeface="Calibri"/>
              </a:rPr>
              <a:t>loyalty;</a:t>
            </a:r>
            <a:r>
              <a:rPr sz="2700" spc="5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discounts</a:t>
            </a:r>
            <a:r>
              <a:rPr sz="27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0F0F0"/>
                </a:solidFill>
                <a:latin typeface="Calibri"/>
                <a:cs typeface="Calibri"/>
              </a:rPr>
              <a:t>drive </a:t>
            </a:r>
            <a:r>
              <a:rPr sz="2700" spc="-100" dirty="0">
                <a:solidFill>
                  <a:srgbClr val="FFFFFF"/>
                </a:solidFill>
                <a:latin typeface="Calibri"/>
                <a:cs typeface="Calibri"/>
              </a:rPr>
              <a:t>one-</a:t>
            </a:r>
            <a:r>
              <a:rPr sz="2700" spc="-55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2F2F2"/>
                </a:solidFill>
                <a:latin typeface="Calibri"/>
                <a:cs typeface="Calibri"/>
              </a:rPr>
              <a:t>churn.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706" y="7177792"/>
            <a:ext cx="20080605" cy="212090"/>
          </a:xfrm>
          <a:custGeom>
            <a:avLst/>
            <a:gdLst/>
            <a:ahLst/>
            <a:cxnLst/>
            <a:rect l="l" t="t" r="r" b="b"/>
            <a:pathLst>
              <a:path w="20080605" h="212090">
                <a:moveTo>
                  <a:pt x="20080541" y="212035"/>
                </a:moveTo>
                <a:lnTo>
                  <a:pt x="0" y="21203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120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706" y="8120171"/>
            <a:ext cx="20080605" cy="212090"/>
          </a:xfrm>
          <a:custGeom>
            <a:avLst/>
            <a:gdLst/>
            <a:ahLst/>
            <a:cxnLst/>
            <a:rect l="l" t="t" r="r" b="b"/>
            <a:pathLst>
              <a:path w="20080605" h="212090">
                <a:moveTo>
                  <a:pt x="20080541" y="212035"/>
                </a:moveTo>
                <a:lnTo>
                  <a:pt x="0" y="21203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120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706" y="9125376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51148" y="7099648"/>
            <a:ext cx="9965690" cy="2309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6055360" algn="r">
              <a:lnSpc>
                <a:spcPct val="100000"/>
              </a:lnSpc>
              <a:spcBef>
                <a:spcPts val="110"/>
              </a:spcBef>
            </a:pPr>
            <a:r>
              <a:rPr sz="2050" spc="-40" dirty="0">
                <a:solidFill>
                  <a:srgbClr val="FFFFFF"/>
                </a:solidFill>
                <a:latin typeface="Arial MT"/>
                <a:cs typeface="Arial MT"/>
              </a:rPr>
              <a:t>Discount</a:t>
            </a:r>
            <a:r>
              <a:rPr sz="20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Correlation</a:t>
            </a: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050">
              <a:latin typeface="Arial MT"/>
              <a:cs typeface="Arial MT"/>
            </a:endParaRPr>
          </a:p>
          <a:p>
            <a:pPr marR="6055360" algn="r">
              <a:lnSpc>
                <a:spcPct val="100000"/>
              </a:lnSpc>
            </a:pPr>
            <a:r>
              <a:rPr sz="2050" spc="-35" dirty="0">
                <a:solidFill>
                  <a:srgbClr val="FFFFFF"/>
                </a:solidFill>
                <a:latin typeface="Arial MT"/>
                <a:cs typeface="Arial MT"/>
              </a:rPr>
              <a:t>Price</a:t>
            </a:r>
            <a:r>
              <a:rPr sz="205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Correlation</a:t>
            </a: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300" i="1" dirty="0">
                <a:solidFill>
                  <a:srgbClr val="B8B8B8"/>
                </a:solidFill>
                <a:latin typeface="Calibri"/>
                <a:cs typeface="Calibri"/>
              </a:rPr>
              <a:t>“Based</a:t>
            </a:r>
            <a:r>
              <a:rPr sz="2300" i="1" spc="80" dirty="0">
                <a:solidFill>
                  <a:srgbClr val="B8B8B8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AFAFAF"/>
                </a:solidFill>
                <a:latin typeface="Calibri"/>
                <a:cs typeface="Calibri"/>
              </a:rPr>
              <a:t>on</a:t>
            </a:r>
            <a:r>
              <a:rPr sz="2300" i="1" spc="-30" dirty="0">
                <a:solidFill>
                  <a:srgbClr val="AFAFAF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B8B8B8"/>
                </a:solidFill>
                <a:latin typeface="Calibri"/>
                <a:cs typeface="Calibri"/>
              </a:rPr>
              <a:t>Pearson</a:t>
            </a:r>
            <a:r>
              <a:rPr sz="2300" i="1" spc="110" dirty="0">
                <a:solidFill>
                  <a:srgbClr val="B8B8B8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BFBFBF"/>
                </a:solidFill>
                <a:latin typeface="Calibri"/>
                <a:cs typeface="Calibri"/>
              </a:rPr>
              <a:t>correlation</a:t>
            </a:r>
            <a:r>
              <a:rPr sz="2300" i="1" spc="190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B8B8B8"/>
                </a:solidFill>
                <a:latin typeface="Calibri"/>
                <a:cs typeface="Calibri"/>
              </a:rPr>
              <a:t>coefńcients</a:t>
            </a:r>
            <a:r>
              <a:rPr sz="2300" i="1" spc="225" dirty="0">
                <a:solidFill>
                  <a:srgbClr val="B8B8B8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B6B6B6"/>
                </a:solidFill>
                <a:latin typeface="Calibri"/>
                <a:cs typeface="Calibri"/>
              </a:rPr>
              <a:t>against</a:t>
            </a:r>
            <a:r>
              <a:rPr sz="2300" i="1" spc="260" dirty="0">
                <a:solidFill>
                  <a:srgbClr val="B6B6B6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C6C6C6"/>
                </a:solidFill>
                <a:latin typeface="Calibri"/>
                <a:cs typeface="Calibri"/>
              </a:rPr>
              <a:t>Success</a:t>
            </a:r>
            <a:r>
              <a:rPr sz="2300" i="1" spc="185" dirty="0">
                <a:solidFill>
                  <a:srgbClr val="C6C6C6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B5B5B5"/>
                </a:solidFill>
                <a:latin typeface="Calibri"/>
                <a:cs typeface="Calibri"/>
              </a:rPr>
              <a:t>Score</a:t>
            </a:r>
            <a:r>
              <a:rPr sz="2300" i="1" spc="-45" dirty="0">
                <a:solidFill>
                  <a:srgbClr val="B5B5B5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B8B8B8"/>
                </a:solidFill>
                <a:latin typeface="Calibri"/>
                <a:cs typeface="Calibri"/>
              </a:rPr>
              <a:t>across</a:t>
            </a:r>
            <a:r>
              <a:rPr sz="2300" i="1" spc="245" dirty="0">
                <a:solidFill>
                  <a:srgbClr val="B8B8B8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C1C1C1"/>
                </a:solidFill>
                <a:latin typeface="Calibri"/>
                <a:cs typeface="Calibri"/>
              </a:rPr>
              <a:t>120</a:t>
            </a:r>
            <a:r>
              <a:rPr sz="2300" i="1" spc="-70" dirty="0">
                <a:solidFill>
                  <a:srgbClr val="C1C1C1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B8B8B8"/>
                </a:solidFill>
                <a:latin typeface="Calibri"/>
                <a:cs typeface="Calibri"/>
              </a:rPr>
              <a:t>cities.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5324445"/>
            <a:ext cx="20088393" cy="8952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706" y="926673"/>
            <a:ext cx="20080605" cy="966469"/>
          </a:xfrm>
          <a:custGeom>
            <a:avLst/>
            <a:gdLst/>
            <a:ahLst/>
            <a:cxnLst/>
            <a:rect l="l" t="t" r="r" b="b"/>
            <a:pathLst>
              <a:path w="20080605" h="966469">
                <a:moveTo>
                  <a:pt x="20080541" y="965939"/>
                </a:moveTo>
                <a:lnTo>
                  <a:pt x="0" y="96593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65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7888" y="942113"/>
            <a:ext cx="9653905" cy="830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22909" algn="l"/>
              </a:tabLst>
            </a:pPr>
            <a:r>
              <a:rPr spc="-725" dirty="0">
                <a:solidFill>
                  <a:srgbClr val="1C0000"/>
                </a:solidFill>
              </a:rPr>
              <a:t>t</a:t>
            </a:r>
            <a:r>
              <a:rPr dirty="0">
                <a:solidFill>
                  <a:srgbClr val="1C0000"/>
                </a:solidFill>
              </a:rPr>
              <a:t>	</a:t>
            </a:r>
            <a:r>
              <a:rPr spc="-35" dirty="0"/>
              <a:t>LOCAL</a:t>
            </a:r>
            <a:r>
              <a:rPr spc="-335" dirty="0"/>
              <a:t> </a:t>
            </a:r>
            <a:r>
              <a:rPr spc="-50" dirty="0"/>
              <a:t>MARKET</a:t>
            </a:r>
            <a:r>
              <a:rPr spc="-150" dirty="0"/>
              <a:t> </a:t>
            </a:r>
            <a:r>
              <a:rPr spc="-165" dirty="0"/>
              <a:t>GOLD</a:t>
            </a:r>
            <a:r>
              <a:rPr spc="-200" dirty="0"/>
              <a:t> </a:t>
            </a:r>
            <a:r>
              <a:rPr spc="-114" dirty="0"/>
              <a:t>MINES</a:t>
            </a:r>
          </a:p>
        </p:txBody>
      </p:sp>
      <p:sp>
        <p:nvSpPr>
          <p:cNvPr id="5" name="object 5"/>
          <p:cNvSpPr/>
          <p:nvPr/>
        </p:nvSpPr>
        <p:spPr>
          <a:xfrm>
            <a:off x="15706" y="3989407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706" y="4492009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27273" y="3786268"/>
            <a:ext cx="17862550" cy="1030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22100"/>
              </a:lnSpc>
              <a:spcBef>
                <a:spcPts val="100"/>
              </a:spcBef>
            </a:pPr>
            <a:r>
              <a:rPr sz="2700" dirty="0">
                <a:solidFill>
                  <a:srgbClr val="F0F0F0"/>
                </a:solidFill>
                <a:latin typeface="Calibri"/>
                <a:cs typeface="Calibri"/>
              </a:rPr>
              <a:t>We</a:t>
            </a:r>
            <a:r>
              <a:rPr sz="2700" spc="-155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700" spc="-65" dirty="0">
                <a:solidFill>
                  <a:srgbClr val="FFFFFF"/>
                </a:solidFill>
                <a:latin typeface="Calibri"/>
                <a:cs typeface="Calibri"/>
              </a:rPr>
              <a:t>identified</a:t>
            </a:r>
            <a:r>
              <a:rPr sz="27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2F2F2"/>
                </a:solidFill>
                <a:latin typeface="Calibri"/>
                <a:cs typeface="Calibri"/>
              </a:rPr>
              <a:t>localities</a:t>
            </a:r>
            <a:r>
              <a:rPr sz="2700" spc="-114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60" dirty="0">
                <a:solidFill>
                  <a:srgbClr val="EFEFEF"/>
                </a:solidFill>
                <a:latin typeface="Calibri"/>
                <a:cs typeface="Calibri"/>
              </a:rPr>
              <a:t>with</a:t>
            </a:r>
            <a:r>
              <a:rPr sz="2700" spc="-11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massive</a:t>
            </a:r>
            <a:r>
              <a:rPr sz="27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EFEFEF"/>
                </a:solidFill>
                <a:latin typeface="Calibri"/>
                <a:cs typeface="Calibri"/>
              </a:rPr>
              <a:t>order</a:t>
            </a:r>
            <a:r>
              <a:rPr sz="2700" spc="-2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70" dirty="0">
                <a:solidFill>
                  <a:srgbClr val="F0F0F0"/>
                </a:solidFill>
                <a:latin typeface="Calibri"/>
                <a:cs typeface="Calibri"/>
              </a:rPr>
              <a:t>volumes</a:t>
            </a:r>
            <a:r>
              <a:rPr sz="2700" spc="-25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700" spc="-55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27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chronically</a:t>
            </a:r>
            <a:r>
              <a:rPr sz="27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60" dirty="0">
                <a:solidFill>
                  <a:srgbClr val="E8E8E8"/>
                </a:solidFill>
                <a:latin typeface="Calibri"/>
                <a:cs typeface="Calibri"/>
              </a:rPr>
              <a:t>low</a:t>
            </a:r>
            <a:r>
              <a:rPr sz="2700" spc="-95" dirty="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sz="2700" spc="-55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27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ratings.</a:t>
            </a:r>
            <a:r>
              <a:rPr sz="2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2F2F2"/>
                </a:solidFill>
                <a:latin typeface="Calibri"/>
                <a:cs typeface="Calibri"/>
              </a:rPr>
              <a:t>These</a:t>
            </a:r>
            <a:r>
              <a:rPr sz="2700" spc="-13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F0F0F0"/>
                </a:solidFill>
                <a:latin typeface="Calibri"/>
                <a:cs typeface="Calibri"/>
              </a:rPr>
              <a:t>are</a:t>
            </a:r>
            <a:r>
              <a:rPr sz="2700" spc="-110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700" spc="-95" dirty="0">
                <a:solidFill>
                  <a:srgbClr val="F2F2F2"/>
                </a:solidFill>
                <a:latin typeface="Calibri"/>
                <a:cs typeface="Calibri"/>
              </a:rPr>
              <a:t>the</a:t>
            </a:r>
            <a:r>
              <a:rPr sz="2700" spc="-10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40" dirty="0">
                <a:solidFill>
                  <a:srgbClr val="FFFFFF"/>
                </a:solidFill>
                <a:latin typeface="Calibri"/>
                <a:cs typeface="Calibri"/>
              </a:rPr>
              <a:t>highest</a:t>
            </a:r>
            <a:r>
              <a:rPr sz="27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6F6F6"/>
                </a:solidFill>
                <a:latin typeface="Calibri"/>
                <a:cs typeface="Calibri"/>
              </a:rPr>
              <a:t>probability</a:t>
            </a:r>
            <a:r>
              <a:rPr sz="2700" spc="10" dirty="0">
                <a:solidFill>
                  <a:srgbClr val="F6F6F6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F6F6F6"/>
                </a:solidFill>
                <a:latin typeface="Calibri"/>
                <a:cs typeface="Calibri"/>
              </a:rPr>
              <a:t>entry</a:t>
            </a:r>
            <a:r>
              <a:rPr sz="2700" spc="-105" dirty="0">
                <a:solidFill>
                  <a:srgbClr val="F6F6F6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2F2F2"/>
                </a:solidFill>
                <a:latin typeface="Calibri"/>
                <a:cs typeface="Calibri"/>
              </a:rPr>
              <a:t>points </a:t>
            </a:r>
            <a:r>
              <a:rPr sz="2700" dirty="0">
                <a:solidFill>
                  <a:srgbClr val="EFEFEF"/>
                </a:solidFill>
                <a:latin typeface="Calibri"/>
                <a:cs typeface="Calibri"/>
              </a:rPr>
              <a:t>for</a:t>
            </a:r>
            <a:r>
              <a:rPr sz="2700" spc="-12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100" dirty="0">
                <a:solidFill>
                  <a:srgbClr val="EFEFEF"/>
                </a:solidFill>
                <a:latin typeface="Calibri"/>
                <a:cs typeface="Calibri"/>
              </a:rPr>
              <a:t>new</a:t>
            </a:r>
            <a:r>
              <a:rPr sz="2700" spc="-5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ventures.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706" y="6486713"/>
            <a:ext cx="20080605" cy="243840"/>
            <a:chOff x="15706" y="6486713"/>
            <a:chExt cx="20080605" cy="24384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36206" y="6486713"/>
              <a:ext cx="1649164" cy="23559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5706" y="6486713"/>
              <a:ext cx="20080605" cy="243840"/>
            </a:xfrm>
            <a:custGeom>
              <a:avLst/>
              <a:gdLst/>
              <a:ahLst/>
              <a:cxnLst/>
              <a:rect l="l" t="t" r="r" b="b"/>
              <a:pathLst>
                <a:path w="20080605" h="243840">
                  <a:moveTo>
                    <a:pt x="20080541" y="243448"/>
                  </a:moveTo>
                  <a:lnTo>
                    <a:pt x="0" y="243448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2434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68583" y="6408570"/>
            <a:ext cx="201612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dirty="0">
                <a:solidFill>
                  <a:srgbClr val="FFFFFF"/>
                </a:solidFill>
                <a:latin typeface="Calibri"/>
                <a:cs typeface="Calibri"/>
              </a:rPr>
              <a:t>Chembur,</a:t>
            </a:r>
            <a:r>
              <a:rPr sz="205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Calibri"/>
                <a:cs typeface="Calibri"/>
              </a:rPr>
              <a:t>Mumbai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33697" y="6408570"/>
            <a:ext cx="71501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solidFill>
                  <a:srgbClr val="FFFFFF"/>
                </a:solidFill>
                <a:latin typeface="Calibri"/>
                <a:cs typeface="Calibri"/>
              </a:rPr>
              <a:t>9.4/10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32660" y="6392209"/>
            <a:ext cx="34734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80" dirty="0">
                <a:solidFill>
                  <a:srgbClr val="130000"/>
                </a:solidFill>
                <a:latin typeface="Calibri"/>
                <a:cs typeface="Calibri"/>
              </a:rPr>
              <a:t>3.ó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5706" y="7272029"/>
            <a:ext cx="20080605" cy="243840"/>
            <a:chOff x="15706" y="7272029"/>
            <a:chExt cx="20080605" cy="24384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44059" y="7272029"/>
              <a:ext cx="1083736" cy="2355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5706" y="7272029"/>
              <a:ext cx="20080605" cy="243840"/>
            </a:xfrm>
            <a:custGeom>
              <a:avLst/>
              <a:gdLst/>
              <a:ahLst/>
              <a:cxnLst/>
              <a:rect l="l" t="t" r="r" b="b"/>
              <a:pathLst>
                <a:path w="20080605" h="243840">
                  <a:moveTo>
                    <a:pt x="20080541" y="243448"/>
                  </a:moveTo>
                  <a:lnTo>
                    <a:pt x="0" y="243448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2434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65475" y="7177526"/>
            <a:ext cx="190055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50" dirty="0">
                <a:solidFill>
                  <a:srgbClr val="EDEDED"/>
                </a:solidFill>
                <a:latin typeface="Calibri"/>
                <a:cs typeface="Calibri"/>
              </a:rPr>
              <a:t>Pitam</a:t>
            </a:r>
            <a:r>
              <a:rPr sz="2200" spc="-35" dirty="0">
                <a:solidFill>
                  <a:srgbClr val="EDEDED"/>
                </a:solidFill>
                <a:latin typeface="Calibri"/>
                <a:cs typeface="Calibri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Calibri"/>
                <a:cs typeface="Calibri"/>
              </a:rPr>
              <a:t>Pura,</a:t>
            </a:r>
            <a:r>
              <a:rPr sz="22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Delhi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25844" y="7193886"/>
            <a:ext cx="72199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solidFill>
                  <a:srgbClr val="FFFFFF"/>
                </a:solidFill>
                <a:latin typeface="Calibri"/>
                <a:cs typeface="Calibri"/>
              </a:rPr>
              <a:t>8.8/10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23062" y="7161165"/>
            <a:ext cx="350520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450" dirty="0">
                <a:solidFill>
                  <a:srgbClr val="FFFFFF"/>
                </a:solidFill>
                <a:latin typeface="Consolas"/>
                <a:cs typeface="Consolas"/>
              </a:rPr>
              <a:t>3.7</a:t>
            </a:r>
            <a:endParaRPr sz="2300">
              <a:latin typeface="Consolas"/>
              <a:cs typeface="Consola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706" y="8057346"/>
            <a:ext cx="20080605" cy="236220"/>
            <a:chOff x="15706" y="8057346"/>
            <a:chExt cx="20080605" cy="23622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44059" y="8057346"/>
              <a:ext cx="1083736" cy="23559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5706" y="8057346"/>
              <a:ext cx="20080605" cy="227965"/>
            </a:xfrm>
            <a:custGeom>
              <a:avLst/>
              <a:gdLst/>
              <a:ahLst/>
              <a:cxnLst/>
              <a:rect l="l" t="t" r="r" b="b"/>
              <a:pathLst>
                <a:path w="20080605" h="227965">
                  <a:moveTo>
                    <a:pt x="20080541" y="227741"/>
                  </a:moveTo>
                  <a:lnTo>
                    <a:pt x="0" y="227741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2277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66849" y="7979203"/>
            <a:ext cx="161353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dirty="0">
                <a:solidFill>
                  <a:srgbClr val="FFFFFF"/>
                </a:solidFill>
                <a:latin typeface="Calibri"/>
                <a:cs typeface="Calibri"/>
              </a:rPr>
              <a:t>Kothrud,</a:t>
            </a:r>
            <a:r>
              <a:rPr sz="2050" spc="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5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25189" y="7962842"/>
            <a:ext cx="72136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60" dirty="0">
                <a:solidFill>
                  <a:srgbClr val="FFFFFF"/>
                </a:solidFill>
                <a:latin typeface="Calibri"/>
                <a:cs typeface="Calibri"/>
              </a:rPr>
              <a:t>8.5/10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132660" y="7962842"/>
            <a:ext cx="34734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80" dirty="0">
                <a:solidFill>
                  <a:srgbClr val="FFFFFF"/>
                </a:solidFill>
                <a:latin typeface="Calibri"/>
                <a:cs typeface="Calibri"/>
              </a:rPr>
              <a:t>3.ó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5706" y="8842662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5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165475" y="8748159"/>
            <a:ext cx="245427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80" dirty="0">
                <a:solidFill>
                  <a:srgbClr val="FFFFFF"/>
                </a:solidFill>
                <a:latin typeface="Calibri"/>
                <a:cs typeface="Calibri"/>
              </a:rPr>
              <a:t>Indiranagar,</a:t>
            </a:r>
            <a:r>
              <a:rPr sz="22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Bangalore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33042" y="8748159"/>
            <a:ext cx="71374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70" dirty="0">
                <a:solidFill>
                  <a:srgbClr val="FFFFFF"/>
                </a:solidFill>
                <a:latin typeface="Calibri"/>
                <a:cs typeface="Calibri"/>
              </a:rPr>
              <a:t>9.8/10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131890" y="8731798"/>
            <a:ext cx="353060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90" dirty="0">
                <a:solidFill>
                  <a:srgbClr val="FFFFFF"/>
                </a:solidFill>
                <a:latin typeface="Calibri"/>
                <a:cs typeface="Calibri"/>
              </a:rPr>
              <a:t>4.3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6343" y="0"/>
            <a:ext cx="10067756" cy="1130855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26673" y="0"/>
            <a:ext cx="7940040" cy="11285220"/>
          </a:xfrm>
          <a:custGeom>
            <a:avLst/>
            <a:gdLst/>
            <a:ahLst/>
            <a:cxnLst/>
            <a:rect l="l" t="t" r="r" b="b"/>
            <a:pathLst>
              <a:path w="7940040" h="11285220">
                <a:moveTo>
                  <a:pt x="7939549" y="11284997"/>
                </a:moveTo>
                <a:lnTo>
                  <a:pt x="0" y="11284997"/>
                </a:lnTo>
                <a:lnTo>
                  <a:pt x="0" y="0"/>
                </a:lnTo>
                <a:lnTo>
                  <a:pt x="7939549" y="0"/>
                </a:lnTo>
                <a:lnTo>
                  <a:pt x="7939549" y="112849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8346" y="2605676"/>
            <a:ext cx="7748905" cy="869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431165" algn="l"/>
              </a:tabLst>
            </a:pPr>
            <a:r>
              <a:rPr sz="5500" spc="-1025" dirty="0">
                <a:solidFill>
                  <a:srgbClr val="210000"/>
                </a:solidFill>
                <a:latin typeface="Calibri"/>
                <a:cs typeface="Calibri"/>
              </a:rPr>
              <a:t>t</a:t>
            </a:r>
            <a:r>
              <a:rPr sz="5500" dirty="0">
                <a:solidFill>
                  <a:srgbClr val="210000"/>
                </a:solidFill>
                <a:latin typeface="Calibri"/>
                <a:cs typeface="Calibri"/>
              </a:rPr>
              <a:t>	</a:t>
            </a:r>
            <a:r>
              <a:rPr sz="5500" spc="455" dirty="0">
                <a:latin typeface="Calibri"/>
                <a:cs typeface="Calibri"/>
              </a:rPr>
              <a:t>STRATEGIC</a:t>
            </a:r>
            <a:r>
              <a:rPr sz="5500" spc="415" dirty="0">
                <a:latin typeface="Calibri"/>
                <a:cs typeface="Calibri"/>
              </a:rPr>
              <a:t> </a:t>
            </a:r>
            <a:r>
              <a:rPr sz="5500" spc="420" dirty="0">
                <a:latin typeface="Calibri"/>
                <a:cs typeface="Calibri"/>
              </a:rPr>
              <a:t>LOCATION</a:t>
            </a:r>
            <a:endParaRPr sz="5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8776" y="5199838"/>
            <a:ext cx="7931150" cy="3166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100"/>
              </a:lnSpc>
              <a:spcBef>
                <a:spcPts val="100"/>
              </a:spcBef>
            </a:pP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Opening</a:t>
            </a:r>
            <a:r>
              <a:rPr sz="27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F0F0F0"/>
                </a:solidFill>
                <a:latin typeface="Calibri"/>
                <a:cs typeface="Calibri"/>
              </a:rPr>
              <a:t>a</a:t>
            </a:r>
            <a:r>
              <a:rPr sz="2700" spc="-185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restaurant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E8E8E8"/>
                </a:solidFill>
                <a:latin typeface="Calibri"/>
                <a:cs typeface="Calibri"/>
              </a:rPr>
              <a:t>in</a:t>
            </a:r>
            <a:r>
              <a:rPr sz="2700" spc="-130" dirty="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6F6F6"/>
                </a:solidFill>
                <a:latin typeface="Calibri"/>
                <a:cs typeface="Calibri"/>
              </a:rPr>
              <a:t>Indiranagar</a:t>
            </a:r>
            <a:r>
              <a:rPr sz="2700" spc="70" dirty="0">
                <a:solidFill>
                  <a:srgbClr val="F6F6F6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0F0F0"/>
                </a:solidFill>
                <a:latin typeface="Calibri"/>
                <a:cs typeface="Calibri"/>
              </a:rPr>
              <a:t>is</a:t>
            </a:r>
            <a:r>
              <a:rPr sz="2700" spc="-130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F4F4F4"/>
                </a:solidFill>
                <a:latin typeface="Calibri"/>
                <a:cs typeface="Calibri"/>
              </a:rPr>
              <a:t>a</a:t>
            </a:r>
            <a:r>
              <a:rPr sz="2700" spc="-155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55" dirty="0">
                <a:solidFill>
                  <a:srgbClr val="F4F4F4"/>
                </a:solidFill>
                <a:latin typeface="Calibri"/>
                <a:cs typeface="Calibri"/>
              </a:rPr>
              <a:t>fight</a:t>
            </a:r>
            <a:r>
              <a:rPr sz="2700" spc="-95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EDEDED"/>
                </a:solidFill>
                <a:latin typeface="Calibri"/>
                <a:cs typeface="Calibri"/>
              </a:rPr>
              <a:t>for</a:t>
            </a:r>
            <a:r>
              <a:rPr sz="2700" spc="-85" dirty="0">
                <a:solidFill>
                  <a:srgbClr val="EDEDED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6F6F6"/>
                </a:solidFill>
                <a:latin typeface="Calibri"/>
                <a:cs typeface="Calibri"/>
              </a:rPr>
              <a:t>survival. </a:t>
            </a:r>
            <a:r>
              <a:rPr sz="2700" spc="-25" dirty="0" err="1">
                <a:solidFill>
                  <a:srgbClr val="FFFFFF"/>
                </a:solidFill>
                <a:latin typeface="Calibri"/>
                <a:cs typeface="Calibri"/>
              </a:rPr>
              <a:t>Openin</a:t>
            </a:r>
            <a:r>
              <a:rPr lang="en-IN" sz="2700" spc="-25" dirty="0">
                <a:solidFill>
                  <a:srgbClr val="FFFFFF"/>
                </a:solidFill>
                <a:latin typeface="Calibri"/>
                <a:cs typeface="Calibri"/>
              </a:rPr>
              <a:t>g in</a:t>
            </a:r>
            <a:r>
              <a:rPr sz="2700" spc="-215" dirty="0">
                <a:solidFill>
                  <a:srgbClr val="A39377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Chembur</a:t>
            </a:r>
            <a:r>
              <a:rPr sz="2700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7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EDEDED"/>
                </a:solidFill>
                <a:latin typeface="Calibri"/>
                <a:cs typeface="Calibri"/>
              </a:rPr>
              <a:t>Pitam</a:t>
            </a:r>
            <a:r>
              <a:rPr sz="2700" spc="-150" dirty="0">
                <a:solidFill>
                  <a:srgbClr val="EDEDED"/>
                </a:solidFill>
                <a:latin typeface="Calibri"/>
                <a:cs typeface="Calibri"/>
              </a:rPr>
              <a:t> </a:t>
            </a:r>
            <a:r>
              <a:rPr sz="2700" spc="60" dirty="0">
                <a:solidFill>
                  <a:srgbClr val="EBEBEB"/>
                </a:solidFill>
                <a:latin typeface="Calibri"/>
                <a:cs typeface="Calibri"/>
              </a:rPr>
              <a:t>Pura</a:t>
            </a:r>
            <a:r>
              <a:rPr sz="2700" spc="-185" dirty="0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EFEFEF"/>
                </a:solidFill>
                <a:latin typeface="Calibri"/>
                <a:cs typeface="Calibri"/>
              </a:rPr>
              <a:t>is</a:t>
            </a:r>
            <a:r>
              <a:rPr sz="2700" spc="-11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EBEBEB"/>
                </a:solidFill>
                <a:latin typeface="Calibri"/>
                <a:cs typeface="Calibri"/>
              </a:rPr>
              <a:t>a</a:t>
            </a:r>
            <a:r>
              <a:rPr sz="2700" spc="-150" dirty="0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strategic</a:t>
            </a:r>
            <a:r>
              <a:rPr sz="27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Calibri"/>
                <a:cs typeface="Calibri"/>
              </a:rPr>
              <a:t>conquest.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2700" dirty="0">
              <a:latin typeface="Calibri"/>
              <a:cs typeface="Calibri"/>
            </a:endParaRPr>
          </a:p>
          <a:p>
            <a:pPr marL="13970" marR="199390" indent="4445">
              <a:lnSpc>
                <a:spcPct val="122100"/>
              </a:lnSpc>
            </a:pPr>
            <a:r>
              <a:rPr sz="2700" spc="-2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7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F2F2F2"/>
                </a:solidFill>
                <a:latin typeface="Calibri"/>
                <a:cs typeface="Calibri"/>
              </a:rPr>
              <a:t>goal</a:t>
            </a:r>
            <a:r>
              <a:rPr sz="2700" spc="-3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EBEBEB"/>
                </a:solidFill>
                <a:latin typeface="Calibri"/>
                <a:cs typeface="Calibri"/>
              </a:rPr>
              <a:t>is</a:t>
            </a:r>
            <a:r>
              <a:rPr sz="2700" spc="-55" dirty="0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sz="2700" spc="-70" dirty="0">
                <a:solidFill>
                  <a:srgbClr val="F9F9F9"/>
                </a:solidFill>
                <a:latin typeface="Calibri"/>
                <a:cs typeface="Calibri"/>
              </a:rPr>
              <a:t>to</a:t>
            </a:r>
            <a:r>
              <a:rPr sz="2700" spc="-140" dirty="0">
                <a:solidFill>
                  <a:srgbClr val="F9F9F9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provide</a:t>
            </a:r>
            <a:r>
              <a:rPr sz="27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4F4F4"/>
                </a:solidFill>
                <a:latin typeface="Calibri"/>
                <a:cs typeface="Calibri"/>
              </a:rPr>
              <a:t>4.2-star</a:t>
            </a:r>
            <a:r>
              <a:rPr sz="2700" spc="65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EFEFEF"/>
                </a:solidFill>
                <a:latin typeface="Calibri"/>
                <a:cs typeface="Calibri"/>
              </a:rPr>
              <a:t>food</a:t>
            </a:r>
            <a:r>
              <a:rPr sz="2700" spc="-7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E8E8E8"/>
                </a:solidFill>
                <a:latin typeface="Calibri"/>
                <a:cs typeface="Calibri"/>
              </a:rPr>
              <a:t>in</a:t>
            </a:r>
            <a:r>
              <a:rPr sz="2700" spc="-140" dirty="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0F0F0"/>
                </a:solidFill>
                <a:latin typeface="Calibri"/>
                <a:cs typeface="Calibri"/>
              </a:rPr>
              <a:t>a</a:t>
            </a:r>
            <a:r>
              <a:rPr sz="2700" spc="-114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3.6-star</a:t>
            </a:r>
            <a:r>
              <a:rPr sz="270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2F2F2"/>
                </a:solidFill>
                <a:latin typeface="Calibri"/>
                <a:cs typeface="Calibri"/>
              </a:rPr>
              <a:t>market. </a:t>
            </a:r>
            <a:r>
              <a:rPr sz="2700" dirty="0">
                <a:solidFill>
                  <a:srgbClr val="F2F2F2"/>
                </a:solidFill>
                <a:latin typeface="Calibri"/>
                <a:cs typeface="Calibri"/>
              </a:rPr>
              <a:t>This</a:t>
            </a:r>
            <a:r>
              <a:rPr sz="2700" spc="-15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F9F9F9"/>
                </a:solidFill>
                <a:latin typeface="Calibri"/>
                <a:cs typeface="Calibri"/>
              </a:rPr>
              <a:t>disparity</a:t>
            </a:r>
            <a:r>
              <a:rPr sz="2700" spc="-15" dirty="0">
                <a:solidFill>
                  <a:srgbClr val="F9F9F9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F2F2F2"/>
                </a:solidFill>
                <a:latin typeface="Calibri"/>
                <a:cs typeface="Calibri"/>
              </a:rPr>
              <a:t>creates </a:t>
            </a:r>
            <a:r>
              <a:rPr sz="2700" spc="-65" dirty="0">
                <a:solidFill>
                  <a:srgbClr val="EBEBEB"/>
                </a:solidFill>
                <a:latin typeface="Calibri"/>
                <a:cs typeface="Calibri"/>
              </a:rPr>
              <a:t>an</a:t>
            </a:r>
            <a:r>
              <a:rPr sz="2700" spc="-120" dirty="0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sz="2700" spc="-100" dirty="0">
                <a:solidFill>
                  <a:srgbClr val="F4F4F4"/>
                </a:solidFill>
                <a:latin typeface="Calibri"/>
                <a:cs typeface="Calibri"/>
              </a:rPr>
              <a:t>immediate</a:t>
            </a:r>
            <a:r>
              <a:rPr sz="2700" spc="-5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60" dirty="0">
                <a:solidFill>
                  <a:srgbClr val="F4F4F4"/>
                </a:solidFill>
                <a:latin typeface="Calibri"/>
                <a:cs typeface="Calibri"/>
              </a:rPr>
              <a:t>customer</a:t>
            </a:r>
            <a:r>
              <a:rPr sz="2700" spc="2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4F4F4"/>
                </a:solidFill>
                <a:latin typeface="Calibri"/>
                <a:cs typeface="Calibri"/>
              </a:rPr>
              <a:t>gravity</a:t>
            </a:r>
            <a:r>
              <a:rPr sz="2700" spc="-8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F9F9F9"/>
                </a:solidFill>
                <a:latin typeface="Calibri"/>
                <a:cs typeface="Calibri"/>
              </a:rPr>
              <a:t>that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offsets</a:t>
            </a:r>
            <a:r>
              <a:rPr sz="27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27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140" dirty="0">
                <a:solidFill>
                  <a:srgbClr val="F2F2F2"/>
                </a:solidFill>
                <a:latin typeface="Calibri"/>
                <a:cs typeface="Calibri"/>
              </a:rPr>
              <a:t>CAC.</a:t>
            </a:r>
            <a:endParaRPr sz="2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6690895"/>
            <a:ext cx="20088393" cy="392658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706" y="926673"/>
            <a:ext cx="20080605" cy="966469"/>
          </a:xfrm>
          <a:custGeom>
            <a:avLst/>
            <a:gdLst/>
            <a:ahLst/>
            <a:cxnLst/>
            <a:rect l="l" t="t" r="r" b="b"/>
            <a:pathLst>
              <a:path w="20080605" h="966469">
                <a:moveTo>
                  <a:pt x="20080541" y="965939"/>
                </a:moveTo>
                <a:lnTo>
                  <a:pt x="0" y="96593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65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7888" y="942113"/>
            <a:ext cx="9559925" cy="830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32434" algn="l"/>
              </a:tabLst>
            </a:pPr>
            <a:r>
              <a:rPr spc="-725" dirty="0">
                <a:solidFill>
                  <a:srgbClr val="1C0000"/>
                </a:solidFill>
              </a:rPr>
              <a:t>t</a:t>
            </a:r>
            <a:r>
              <a:rPr dirty="0">
                <a:solidFill>
                  <a:srgbClr val="1C0000"/>
                </a:solidFill>
              </a:rPr>
              <a:t>	</a:t>
            </a:r>
            <a:r>
              <a:rPr dirty="0"/>
              <a:t>TACTICAL</a:t>
            </a:r>
            <a:r>
              <a:rPr spc="145" dirty="0"/>
              <a:t> </a:t>
            </a:r>
            <a:r>
              <a:rPr spc="-100" dirty="0"/>
              <a:t>EXECUTION</a:t>
            </a:r>
            <a:r>
              <a:rPr spc="-45" dirty="0"/>
              <a:t> </a:t>
            </a:r>
            <a:r>
              <a:rPr spc="-20" dirty="0"/>
              <a:t>PLAN</a:t>
            </a:r>
          </a:p>
        </p:txBody>
      </p:sp>
      <p:sp>
        <p:nvSpPr>
          <p:cNvPr id="5" name="object 5"/>
          <p:cNvSpPr/>
          <p:nvPr/>
        </p:nvSpPr>
        <p:spPr>
          <a:xfrm>
            <a:off x="15706" y="2827139"/>
            <a:ext cx="20080605" cy="400685"/>
          </a:xfrm>
          <a:custGeom>
            <a:avLst/>
            <a:gdLst/>
            <a:ahLst/>
            <a:cxnLst/>
            <a:rect l="l" t="t" r="r" b="b"/>
            <a:pathLst>
              <a:path w="20080605" h="400685">
                <a:moveTo>
                  <a:pt x="20080541" y="400511"/>
                </a:moveTo>
                <a:lnTo>
                  <a:pt x="0" y="40051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005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706" y="3392566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706" y="3895169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139161" y="3798701"/>
            <a:ext cx="116840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25" dirty="0">
                <a:solidFill>
                  <a:srgbClr val="FFFFFF"/>
                </a:solidFill>
                <a:latin typeface="Calibri"/>
                <a:cs typeface="Calibri"/>
              </a:rPr>
              <a:t>demand.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706" y="4225002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10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706" y="4743311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35015" y="2686825"/>
            <a:ext cx="8571865" cy="2428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8660" marR="5080" indent="-459105">
              <a:lnSpc>
                <a:spcPct val="122100"/>
              </a:lnSpc>
              <a:spcBef>
                <a:spcPts val="100"/>
              </a:spcBef>
              <a:buClr>
                <a:srgbClr val="FF8526"/>
              </a:buClr>
              <a:buChar char="•"/>
              <a:tabLst>
                <a:tab pos="716280" algn="l"/>
                <a:tab pos="1470025" algn="l"/>
              </a:tabLst>
            </a:pPr>
            <a:r>
              <a:rPr sz="2700" dirty="0">
                <a:solidFill>
                  <a:srgbClr val="F4F4F4"/>
                </a:solidFill>
                <a:latin typeface="Calibri"/>
                <a:cs typeface="Calibri"/>
              </a:rPr>
              <a:t>Rating</a:t>
            </a:r>
            <a:r>
              <a:rPr sz="2700" spc="-155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Maintenance:</a:t>
            </a:r>
            <a:r>
              <a:rPr sz="27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Incentivize</a:t>
            </a:r>
            <a:r>
              <a:rPr sz="27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EDEDED"/>
                </a:solidFill>
                <a:latin typeface="Calibri"/>
                <a:cs typeface="Calibri"/>
              </a:rPr>
              <a:t>'Review</a:t>
            </a:r>
            <a:r>
              <a:rPr sz="2700" spc="-90" dirty="0">
                <a:solidFill>
                  <a:srgbClr val="EDEDED"/>
                </a:solidFill>
                <a:latin typeface="Calibri"/>
                <a:cs typeface="Calibri"/>
              </a:rPr>
              <a:t> </a:t>
            </a:r>
            <a:r>
              <a:rPr sz="2700" spc="-90" dirty="0">
                <a:solidFill>
                  <a:srgbClr val="FFFFFF"/>
                </a:solidFill>
                <a:latin typeface="Calibri"/>
                <a:cs typeface="Calibri"/>
              </a:rPr>
              <a:t>Moments’</a:t>
            </a:r>
            <a:r>
              <a:rPr sz="27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4F4F4"/>
                </a:solidFill>
                <a:latin typeface="Calibri"/>
                <a:cs typeface="Calibri"/>
              </a:rPr>
              <a:t>rather</a:t>
            </a:r>
            <a:r>
              <a:rPr lang="en-IN" sz="2700" spc="-1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F0F0F0"/>
                </a:solidFill>
                <a:latin typeface="Calibri"/>
                <a:cs typeface="Calibri"/>
              </a:rPr>
              <a:t>than</a:t>
            </a:r>
            <a:r>
              <a:rPr sz="2700" dirty="0">
                <a:solidFill>
                  <a:srgbClr val="F0F0F0"/>
                </a:solidFill>
                <a:latin typeface="Calibri"/>
                <a:cs typeface="Calibri"/>
              </a:rPr>
              <a:t>	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Discount</a:t>
            </a:r>
            <a:r>
              <a:rPr sz="27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F2F2F2"/>
                </a:solidFill>
                <a:latin typeface="Calibri"/>
                <a:cs typeface="Calibri"/>
              </a:rPr>
              <a:t>Clicks’.</a:t>
            </a:r>
            <a:r>
              <a:rPr sz="2700" spc="-13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IN" sz="2700" spc="-135" dirty="0">
                <a:solidFill>
                  <a:srgbClr val="FFFFFF"/>
                </a:solidFill>
                <a:latin typeface="Calibri"/>
                <a:cs typeface="Calibri"/>
              </a:rPr>
              <a:t>Aim </a:t>
            </a:r>
            <a:r>
              <a:rPr lang="en-IN" sz="2700" spc="-135" dirty="0" err="1">
                <a:solidFill>
                  <a:srgbClr val="FFFFFF"/>
                </a:solidFill>
                <a:latin typeface="Calibri"/>
                <a:cs typeface="Calibri"/>
              </a:rPr>
              <a:t>fo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7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2F2F2"/>
                </a:solidFill>
                <a:latin typeface="Calibri"/>
                <a:cs typeface="Calibri"/>
              </a:rPr>
              <a:t>4.2+</a:t>
            </a:r>
            <a:r>
              <a:rPr sz="2700" spc="1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4F4F4"/>
                </a:solidFill>
                <a:latin typeface="Calibri"/>
                <a:cs typeface="Calibri"/>
              </a:rPr>
              <a:t>within</a:t>
            </a:r>
            <a:r>
              <a:rPr sz="2700" spc="-55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50" dirty="0">
                <a:solidFill>
                  <a:srgbClr val="F4F4F4"/>
                </a:solidFill>
                <a:latin typeface="Calibri"/>
                <a:cs typeface="Calibri"/>
              </a:rPr>
              <a:t>30</a:t>
            </a:r>
            <a:r>
              <a:rPr sz="2700" spc="-8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2F2F2"/>
                </a:solidFill>
                <a:latin typeface="Calibri"/>
                <a:cs typeface="Calibri"/>
              </a:rPr>
              <a:t>days.</a:t>
            </a:r>
            <a:endParaRPr sz="2700" dirty="0">
              <a:latin typeface="Calibri"/>
              <a:cs typeface="Calibri"/>
            </a:endParaRPr>
          </a:p>
          <a:p>
            <a:pPr marL="716280" marR="281940" indent="-704215">
              <a:lnSpc>
                <a:spcPct val="122100"/>
              </a:lnSpc>
              <a:spcBef>
                <a:spcPts val="3090"/>
              </a:spcBef>
              <a:tabLst>
                <a:tab pos="708660" algn="l"/>
              </a:tabLst>
            </a:pPr>
            <a:r>
              <a:rPr sz="2700" dirty="0">
                <a:solidFill>
                  <a:srgbClr val="E8832D"/>
                </a:solidFill>
                <a:latin typeface="Calibri"/>
                <a:cs typeface="Calibri"/>
              </a:rPr>
              <a:t>	</a:t>
            </a:r>
            <a:r>
              <a:rPr sz="2700" dirty="0">
                <a:solidFill>
                  <a:srgbClr val="EFEFEF"/>
                </a:solidFill>
                <a:latin typeface="Calibri"/>
                <a:cs typeface="Calibri"/>
              </a:rPr>
              <a:t>Heritage</a:t>
            </a:r>
            <a:r>
              <a:rPr sz="2700" spc="-4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2F2F2"/>
                </a:solidFill>
                <a:latin typeface="Calibri"/>
                <a:cs typeface="Calibri"/>
              </a:rPr>
              <a:t>Focus:</a:t>
            </a:r>
            <a:r>
              <a:rPr sz="2700" spc="-4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EBEBEB"/>
                </a:solidFill>
                <a:latin typeface="Calibri"/>
                <a:cs typeface="Calibri"/>
              </a:rPr>
              <a:t>If</a:t>
            </a:r>
            <a:r>
              <a:rPr sz="2700" spc="-25" dirty="0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sz="2700" spc="-55" dirty="0">
                <a:solidFill>
                  <a:srgbClr val="FFFFFF"/>
                </a:solidFill>
                <a:latin typeface="Calibri"/>
                <a:cs typeface="Calibri"/>
              </a:rPr>
              <a:t>entering</a:t>
            </a:r>
            <a:r>
              <a:rPr sz="27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70" dirty="0">
                <a:solidFill>
                  <a:srgbClr val="F2F2F2"/>
                </a:solidFill>
                <a:latin typeface="Calibri"/>
                <a:cs typeface="Calibri"/>
              </a:rPr>
              <a:t>high-</a:t>
            </a:r>
            <a:r>
              <a:rPr sz="2700" spc="-50" dirty="0">
                <a:solidFill>
                  <a:srgbClr val="F2F2F2"/>
                </a:solidFill>
                <a:latin typeface="Calibri"/>
                <a:cs typeface="Calibri"/>
              </a:rPr>
              <a:t>volume</a:t>
            </a:r>
            <a:r>
              <a:rPr sz="2700" spc="3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70" dirty="0">
                <a:solidFill>
                  <a:srgbClr val="F6F6F6"/>
                </a:solidFill>
                <a:latin typeface="Calibri"/>
                <a:cs typeface="Calibri"/>
              </a:rPr>
              <a:t>zones,</a:t>
            </a:r>
            <a:r>
              <a:rPr sz="2700" spc="-100" dirty="0">
                <a:solidFill>
                  <a:srgbClr val="F6F6F6"/>
                </a:solidFill>
                <a:latin typeface="Calibri"/>
                <a:cs typeface="Calibri"/>
              </a:rPr>
              <a:t> </a:t>
            </a:r>
            <a:r>
              <a:rPr sz="2700" spc="-70" dirty="0">
                <a:solidFill>
                  <a:srgbClr val="EDEDED"/>
                </a:solidFill>
                <a:latin typeface="Calibri"/>
                <a:cs typeface="Calibri"/>
              </a:rPr>
              <a:t>lead</a:t>
            </a:r>
            <a:r>
              <a:rPr sz="2700" spc="-45" dirty="0">
                <a:solidFill>
                  <a:srgbClr val="EDEDED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F2F2F2"/>
                </a:solidFill>
                <a:latin typeface="Calibri"/>
                <a:cs typeface="Calibri"/>
              </a:rPr>
              <a:t>with </a:t>
            </a:r>
            <a:r>
              <a:rPr sz="2700" spc="-40" dirty="0">
                <a:solidFill>
                  <a:srgbClr val="F4F4F4"/>
                </a:solidFill>
                <a:latin typeface="Calibri"/>
                <a:cs typeface="Calibri"/>
              </a:rPr>
              <a:t>North/South</a:t>
            </a:r>
            <a:r>
              <a:rPr sz="2700" spc="-8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0F0F0"/>
                </a:solidFill>
                <a:latin typeface="Calibri"/>
                <a:cs typeface="Calibri"/>
              </a:rPr>
              <a:t>Indian</a:t>
            </a:r>
            <a:r>
              <a:rPr sz="2700" spc="-90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F2F2F2"/>
                </a:solidFill>
                <a:latin typeface="Calibri"/>
                <a:cs typeface="Calibri"/>
              </a:rPr>
              <a:t>staples</a:t>
            </a:r>
            <a:r>
              <a:rPr sz="2700" spc="-4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70" dirty="0">
                <a:solidFill>
                  <a:srgbClr val="F2F2F2"/>
                </a:solidFill>
                <a:latin typeface="Calibri"/>
                <a:cs typeface="Calibri"/>
              </a:rPr>
              <a:t>to</a:t>
            </a:r>
            <a:r>
              <a:rPr sz="2700" spc="-12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F4F4F4"/>
                </a:solidFill>
                <a:latin typeface="Calibri"/>
                <a:cs typeface="Calibri"/>
              </a:rPr>
              <a:t>capture</a:t>
            </a:r>
            <a:r>
              <a:rPr sz="2700" spc="-6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95" dirty="0">
                <a:solidFill>
                  <a:srgbClr val="F2F2F2"/>
                </a:solidFill>
                <a:latin typeface="Calibri"/>
                <a:cs typeface="Calibri"/>
              </a:rPr>
              <a:t>the</a:t>
            </a:r>
            <a:r>
              <a:rPr sz="2700" spc="-10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F4F4F4"/>
                </a:solidFill>
                <a:latin typeface="Calibri"/>
                <a:cs typeface="Calibri"/>
              </a:rPr>
              <a:t>base</a:t>
            </a:r>
            <a:r>
              <a:rPr sz="2700" spc="-10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2F2F2"/>
                </a:solidFill>
                <a:latin typeface="Calibri"/>
                <a:cs typeface="Calibri"/>
              </a:rPr>
              <a:t>demand.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706" y="5293032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136390" y="2686825"/>
            <a:ext cx="7830820" cy="2934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6559" indent="-635">
              <a:lnSpc>
                <a:spcPct val="122100"/>
              </a:lnSpc>
              <a:spcBef>
                <a:spcPts val="100"/>
              </a:spcBef>
              <a:tabLst>
                <a:tab pos="4053840" algn="l"/>
              </a:tabLst>
            </a:pP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Weather</a:t>
            </a:r>
            <a:r>
              <a:rPr sz="2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0F0F0"/>
                </a:solidFill>
                <a:latin typeface="Calibri"/>
                <a:cs typeface="Calibri"/>
              </a:rPr>
              <a:t>Marketing:</a:t>
            </a:r>
            <a:r>
              <a:rPr sz="2700" spc="55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Increase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70" dirty="0">
                <a:solidFill>
                  <a:srgbClr val="F6F6F6"/>
                </a:solidFill>
                <a:latin typeface="Calibri"/>
                <a:cs typeface="Calibri"/>
              </a:rPr>
              <a:t>ad-</a:t>
            </a:r>
            <a:r>
              <a:rPr sz="2700" spc="-35" dirty="0">
                <a:solidFill>
                  <a:srgbClr val="F6F6F6"/>
                </a:solidFill>
                <a:latin typeface="Calibri"/>
                <a:cs typeface="Calibri"/>
              </a:rPr>
              <a:t>spend</a:t>
            </a:r>
            <a:r>
              <a:rPr sz="2700" dirty="0">
                <a:solidFill>
                  <a:srgbClr val="F6F6F6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7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30%</a:t>
            </a:r>
            <a:r>
              <a:rPr sz="27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during </a:t>
            </a:r>
            <a:r>
              <a:rPr sz="2700" spc="-80" dirty="0">
                <a:solidFill>
                  <a:srgbClr val="FFFFFF"/>
                </a:solidFill>
                <a:latin typeface="Calibri"/>
                <a:cs typeface="Calibri"/>
              </a:rPr>
              <a:t>monsoon</a:t>
            </a:r>
            <a:r>
              <a:rPr sz="27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days</a:t>
            </a:r>
            <a:r>
              <a:rPr sz="27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70" dirty="0">
                <a:solidFill>
                  <a:srgbClr val="F0F0F0"/>
                </a:solidFill>
                <a:latin typeface="Calibri"/>
                <a:cs typeface="Calibri"/>
              </a:rPr>
              <a:t>to</a:t>
            </a:r>
            <a:r>
              <a:rPr sz="2700" spc="-120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Calibri"/>
                <a:cs typeface="Calibri"/>
              </a:rPr>
              <a:t>capture</a:t>
            </a:r>
            <a:r>
              <a:rPr sz="27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700" dirty="0">
                <a:solidFill>
                  <a:srgbClr val="EDEDED"/>
                </a:solidFill>
                <a:latin typeface="Calibri"/>
                <a:cs typeface="Calibri"/>
              </a:rPr>
              <a:t>Rain</a:t>
            </a:r>
            <a:r>
              <a:rPr sz="2700" spc="-155" dirty="0">
                <a:solidFill>
                  <a:srgbClr val="EDEDED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EFEFEF"/>
                </a:solidFill>
                <a:latin typeface="Calibri"/>
                <a:cs typeface="Calibri"/>
              </a:rPr>
              <a:t>Lift</a:t>
            </a:r>
            <a:r>
              <a:rPr lang="en-IN" sz="270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145" dirty="0">
                <a:solidFill>
                  <a:srgbClr val="B38E69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FFFFFF"/>
                </a:solidFill>
                <a:latin typeface="Calibri"/>
                <a:cs typeface="Calibri"/>
              </a:rPr>
              <a:t>comfort</a:t>
            </a:r>
            <a:r>
              <a:rPr sz="27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F6F6F6"/>
                </a:solidFill>
                <a:latin typeface="Calibri"/>
                <a:cs typeface="Calibri"/>
              </a:rPr>
              <a:t>food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2700" dirty="0">
              <a:latin typeface="Calibri"/>
              <a:cs typeface="Calibri"/>
            </a:endParaRPr>
          </a:p>
          <a:p>
            <a:pPr marL="20320">
              <a:lnSpc>
                <a:spcPct val="100000"/>
              </a:lnSpc>
            </a:pP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lnstamart</a:t>
            </a:r>
            <a:r>
              <a:rPr sz="27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EFEFEF"/>
                </a:solidFill>
                <a:latin typeface="Calibri"/>
                <a:cs typeface="Calibri"/>
              </a:rPr>
              <a:t>Synergy:</a:t>
            </a:r>
            <a:r>
              <a:rPr sz="2700" spc="-3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FFFFFF"/>
                </a:solidFill>
                <a:latin typeface="Calibri"/>
                <a:cs typeface="Calibri"/>
              </a:rPr>
              <a:t>Bundle</a:t>
            </a:r>
            <a:r>
              <a:rPr sz="27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55" dirty="0">
                <a:solidFill>
                  <a:srgbClr val="F2F2F2"/>
                </a:solidFill>
                <a:latin typeface="Calibri"/>
                <a:cs typeface="Calibri"/>
              </a:rPr>
              <a:t>high-</a:t>
            </a:r>
            <a:r>
              <a:rPr sz="2700" spc="-35" dirty="0">
                <a:solidFill>
                  <a:srgbClr val="F2F2F2"/>
                </a:solidFill>
                <a:latin typeface="Calibri"/>
                <a:cs typeface="Calibri"/>
              </a:rPr>
              <a:t>margin </a:t>
            </a:r>
            <a:r>
              <a:rPr sz="2700" spc="-50" dirty="0">
                <a:solidFill>
                  <a:srgbClr val="F4F4F4"/>
                </a:solidFill>
                <a:latin typeface="Calibri"/>
                <a:cs typeface="Calibri"/>
              </a:rPr>
              <a:t>bakery</a:t>
            </a:r>
            <a:r>
              <a:rPr sz="2700" spc="-4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75" dirty="0">
                <a:solidFill>
                  <a:srgbClr val="FFFFFF"/>
                </a:solidFill>
                <a:latin typeface="Calibri"/>
                <a:cs typeface="Calibri"/>
              </a:rPr>
              <a:t>items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EBEBEB"/>
                </a:solidFill>
                <a:latin typeface="Calibri"/>
                <a:cs typeface="Calibri"/>
              </a:rPr>
              <a:t>with</a:t>
            </a:r>
            <a:endParaRPr sz="2700" dirty="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615"/>
              </a:spcBef>
            </a:pPr>
            <a:r>
              <a:rPr sz="2800" spc="-80" dirty="0">
                <a:solidFill>
                  <a:srgbClr val="EDEDED"/>
                </a:solidFill>
                <a:latin typeface="Calibri"/>
                <a:cs typeface="Calibri"/>
              </a:rPr>
              <a:t>daily </a:t>
            </a:r>
            <a:r>
              <a:rPr sz="2800" spc="-80" dirty="0">
                <a:solidFill>
                  <a:srgbClr val="EFEFEF"/>
                </a:solidFill>
                <a:latin typeface="Calibri"/>
                <a:cs typeface="Calibri"/>
              </a:rPr>
              <a:t>grocery </a:t>
            </a:r>
            <a:r>
              <a:rPr sz="2800" spc="-75" dirty="0">
                <a:solidFill>
                  <a:srgbClr val="EFEFEF"/>
                </a:solidFill>
                <a:latin typeface="Calibri"/>
                <a:cs typeface="Calibri"/>
              </a:rPr>
              <a:t>orders</a:t>
            </a:r>
            <a:r>
              <a:rPr sz="2800" spc="-1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800" spc="-100" dirty="0">
                <a:solidFill>
                  <a:srgbClr val="F2F2F2"/>
                </a:solidFill>
                <a:latin typeface="Calibri"/>
                <a:cs typeface="Calibri"/>
              </a:rPr>
              <a:t>to</a:t>
            </a:r>
            <a:r>
              <a:rPr sz="2800" spc="-15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F4F4F4"/>
                </a:solidFill>
                <a:latin typeface="Calibri"/>
                <a:cs typeface="Calibri"/>
              </a:rPr>
              <a:t>increase</a:t>
            </a:r>
            <a:r>
              <a:rPr sz="2800" spc="1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EFEFEF"/>
                </a:solidFill>
                <a:latin typeface="Calibri"/>
                <a:cs typeface="Calibri"/>
              </a:rPr>
              <a:t>AOV.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5921285"/>
            <a:ext cx="20088393" cy="304702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706" y="926673"/>
            <a:ext cx="20080605" cy="966469"/>
          </a:xfrm>
          <a:custGeom>
            <a:avLst/>
            <a:gdLst/>
            <a:ahLst/>
            <a:cxnLst/>
            <a:rect l="l" t="t" r="r" b="b"/>
            <a:pathLst>
              <a:path w="20080605" h="966469">
                <a:moveTo>
                  <a:pt x="20080541" y="965939"/>
                </a:moveTo>
                <a:lnTo>
                  <a:pt x="0" y="96593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65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7600" y="925752"/>
            <a:ext cx="10782300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25450" algn="l"/>
              </a:tabLst>
            </a:pPr>
            <a:r>
              <a:rPr sz="5400" spc="-770" dirty="0">
                <a:solidFill>
                  <a:srgbClr val="1C0000"/>
                </a:solidFill>
              </a:rPr>
              <a:t>t</a:t>
            </a:r>
            <a:r>
              <a:rPr sz="5400" dirty="0">
                <a:solidFill>
                  <a:srgbClr val="1C0000"/>
                </a:solidFill>
              </a:rPr>
              <a:t>	</a:t>
            </a:r>
            <a:r>
              <a:rPr sz="5400" spc="-260" dirty="0"/>
              <a:t>SEASONAL</a:t>
            </a:r>
            <a:r>
              <a:rPr sz="5400" spc="260" dirty="0"/>
              <a:t> </a:t>
            </a:r>
            <a:r>
              <a:rPr sz="5400" spc="-490" dirty="0"/>
              <a:t>REVENUE</a:t>
            </a:r>
            <a:r>
              <a:rPr sz="5400" spc="395" dirty="0"/>
              <a:t> </a:t>
            </a:r>
            <a:r>
              <a:rPr sz="5400" spc="-50" dirty="0"/>
              <a:t>DYNAMICS</a:t>
            </a:r>
            <a:endParaRPr sz="5400"/>
          </a:p>
        </p:txBody>
      </p:sp>
      <p:sp>
        <p:nvSpPr>
          <p:cNvPr id="5" name="object 5"/>
          <p:cNvSpPr/>
          <p:nvPr/>
        </p:nvSpPr>
        <p:spPr>
          <a:xfrm>
            <a:off x="15706" y="3376860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706" y="3879463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27572" y="3173721"/>
            <a:ext cx="17792065" cy="1030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445">
              <a:lnSpc>
                <a:spcPct val="122100"/>
              </a:lnSpc>
              <a:spcBef>
                <a:spcPts val="100"/>
              </a:spcBef>
            </a:pPr>
            <a:r>
              <a:rPr sz="2700" spc="-20" dirty="0">
                <a:solidFill>
                  <a:srgbClr val="FFFFFF"/>
                </a:solidFill>
                <a:latin typeface="Calibri"/>
                <a:cs typeface="Calibri"/>
              </a:rPr>
              <a:t>Heritage</a:t>
            </a:r>
            <a:r>
              <a:rPr sz="2700" spc="-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Staples</a:t>
            </a:r>
            <a:r>
              <a:rPr sz="27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75" dirty="0">
                <a:solidFill>
                  <a:srgbClr val="F2F2F2"/>
                </a:solidFill>
                <a:latin typeface="Calibri"/>
                <a:cs typeface="Calibri"/>
              </a:rPr>
              <a:t>and 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Indo-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Chinese</a:t>
            </a:r>
            <a:r>
              <a:rPr sz="27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70" dirty="0">
                <a:solidFill>
                  <a:srgbClr val="FFFFFF"/>
                </a:solidFill>
                <a:latin typeface="Calibri"/>
                <a:cs typeface="Calibri"/>
              </a:rPr>
              <a:t>segments</a:t>
            </a:r>
            <a:r>
              <a:rPr sz="27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F4F4F4"/>
                </a:solidFill>
                <a:latin typeface="Calibri"/>
                <a:cs typeface="Calibri"/>
              </a:rPr>
              <a:t>show</a:t>
            </a:r>
            <a:r>
              <a:rPr sz="2700" spc="-105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EBEBEB"/>
                </a:solidFill>
                <a:latin typeface="Calibri"/>
                <a:cs typeface="Calibri"/>
              </a:rPr>
              <a:t>a</a:t>
            </a:r>
            <a:r>
              <a:rPr sz="2700" spc="-170" dirty="0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4F4F4"/>
                </a:solidFill>
                <a:latin typeface="Calibri"/>
                <a:cs typeface="Calibri"/>
              </a:rPr>
              <a:t>distinct</a:t>
            </a:r>
            <a:r>
              <a:rPr sz="2700" spc="-10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2F2F2"/>
                </a:solidFill>
                <a:latin typeface="Calibri"/>
                <a:cs typeface="Calibri"/>
              </a:rPr>
              <a:t>"Rain</a:t>
            </a:r>
            <a:r>
              <a:rPr sz="2700" spc="-18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2F2F2"/>
                </a:solidFill>
                <a:latin typeface="Calibri"/>
                <a:cs typeface="Calibri"/>
              </a:rPr>
              <a:t>Lift".</a:t>
            </a:r>
            <a:r>
              <a:rPr sz="2700" spc="-16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Predictive</a:t>
            </a:r>
            <a:r>
              <a:rPr sz="27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75" dirty="0">
                <a:solidFill>
                  <a:srgbClr val="F4F4F4"/>
                </a:solidFill>
                <a:latin typeface="Calibri"/>
                <a:cs typeface="Calibri"/>
              </a:rPr>
              <a:t>modeling</a:t>
            </a:r>
            <a:r>
              <a:rPr sz="2700" spc="-5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suggests</a:t>
            </a:r>
            <a:r>
              <a:rPr sz="27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E9E9E9"/>
                </a:solidFill>
                <a:latin typeface="Calibri"/>
                <a:cs typeface="Calibri"/>
              </a:rPr>
              <a:t>a</a:t>
            </a:r>
            <a:r>
              <a:rPr sz="2700" spc="-185" dirty="0">
                <a:solidFill>
                  <a:srgbClr val="E9E9E9"/>
                </a:solidFill>
                <a:latin typeface="Calibri"/>
                <a:cs typeface="Calibri"/>
              </a:rPr>
              <a:t> </a:t>
            </a:r>
            <a:r>
              <a:rPr sz="2700" spc="-65" dirty="0">
                <a:solidFill>
                  <a:srgbClr val="F4F4F4"/>
                </a:solidFill>
                <a:latin typeface="Calibri"/>
                <a:cs typeface="Calibri"/>
              </a:rPr>
              <a:t>revenue</a:t>
            </a:r>
            <a:r>
              <a:rPr sz="2700" spc="-80" dirty="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EFEFEF"/>
                </a:solidFill>
                <a:latin typeface="Calibri"/>
                <a:cs typeface="Calibri"/>
              </a:rPr>
              <a:t>surge</a:t>
            </a:r>
            <a:r>
              <a:rPr sz="2700" spc="-114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EFEFEF"/>
                </a:solidFill>
                <a:latin typeface="Calibri"/>
                <a:cs typeface="Calibri"/>
              </a:rPr>
              <a:t>of</a:t>
            </a:r>
            <a:r>
              <a:rPr sz="2700" spc="-6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700" spc="55" dirty="0">
                <a:solidFill>
                  <a:srgbClr val="F7F7F7"/>
                </a:solidFill>
                <a:latin typeface="Calibri"/>
                <a:cs typeface="Calibri"/>
              </a:rPr>
              <a:t>22%</a:t>
            </a:r>
            <a:r>
              <a:rPr sz="2700" spc="-75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2F2F2"/>
                </a:solidFill>
                <a:latin typeface="Calibri"/>
                <a:cs typeface="Calibri"/>
              </a:rPr>
              <a:t>during </a:t>
            </a:r>
            <a:r>
              <a:rPr sz="2700" spc="-45" dirty="0">
                <a:solidFill>
                  <a:srgbClr val="FFFFFF"/>
                </a:solidFill>
                <a:latin typeface="Calibri"/>
                <a:cs typeface="Calibri"/>
              </a:rPr>
              <a:t>precipitation</a:t>
            </a:r>
            <a:r>
              <a:rPr sz="27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events.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06" y="5293032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24000" y="5261354"/>
            <a:ext cx="395287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75" dirty="0">
                <a:solidFill>
                  <a:srgbClr val="FFFFFF"/>
                </a:solidFill>
                <a:latin typeface="Arial MT"/>
                <a:cs typeface="Arial MT"/>
              </a:rPr>
              <a:t>MONSOON</a:t>
            </a:r>
            <a:r>
              <a:rPr sz="220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290" dirty="0">
                <a:solidFill>
                  <a:srgbClr val="FFFFFF"/>
                </a:solidFill>
                <a:latin typeface="Arial MT"/>
                <a:cs typeface="Arial MT"/>
              </a:rPr>
              <a:t>SURGE</a:t>
            </a:r>
            <a:r>
              <a:rPr sz="2200" spc="2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Arial MT"/>
                <a:cs typeface="Arial MT"/>
              </a:rPr>
              <a:t>(JULY-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AUG)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06" y="2104647"/>
            <a:ext cx="20088860" cy="612775"/>
            <a:chOff x="15706" y="2104647"/>
            <a:chExt cx="20088860" cy="6127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2104647"/>
              <a:ext cx="20088393" cy="61254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2104647"/>
              <a:ext cx="20088393" cy="612546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5706" y="3533923"/>
            <a:ext cx="20080605" cy="856615"/>
          </a:xfrm>
          <a:custGeom>
            <a:avLst/>
            <a:gdLst/>
            <a:ahLst/>
            <a:cxnLst/>
            <a:rect l="l" t="t" r="r" b="b"/>
            <a:pathLst>
              <a:path w="20080605" h="856614">
                <a:moveTo>
                  <a:pt x="20080541" y="855994"/>
                </a:moveTo>
                <a:lnTo>
                  <a:pt x="0" y="85599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55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94500" y="3234583"/>
            <a:ext cx="13462000" cy="1085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425" spc="-157" baseline="27178" dirty="0">
                <a:latin typeface="Calibri"/>
                <a:cs typeface="Calibri"/>
              </a:rPr>
              <a:t>''</a:t>
            </a:r>
            <a:r>
              <a:rPr sz="10425" spc="-157" baseline="-2398" dirty="0">
                <a:latin typeface="Calibri"/>
                <a:cs typeface="Calibri"/>
              </a:rPr>
              <a:t>In</a:t>
            </a:r>
            <a:r>
              <a:rPr sz="10425" spc="-165" baseline="-2398" dirty="0">
                <a:latin typeface="Calibri"/>
                <a:cs typeface="Calibri"/>
              </a:rPr>
              <a:t> </a:t>
            </a:r>
            <a:r>
              <a:rPr sz="6950" spc="120" dirty="0">
                <a:latin typeface="Calibri"/>
                <a:cs typeface="Calibri"/>
              </a:rPr>
              <a:t>the</a:t>
            </a:r>
            <a:r>
              <a:rPr sz="6950" spc="60" dirty="0">
                <a:latin typeface="Calibri"/>
                <a:cs typeface="Calibri"/>
              </a:rPr>
              <a:t> </a:t>
            </a:r>
            <a:r>
              <a:rPr sz="6950" spc="130" dirty="0">
                <a:latin typeface="Calibri"/>
                <a:cs typeface="Calibri"/>
              </a:rPr>
              <a:t>2026</a:t>
            </a:r>
            <a:r>
              <a:rPr sz="6950" spc="330" dirty="0">
                <a:latin typeface="Calibri"/>
                <a:cs typeface="Calibri"/>
              </a:rPr>
              <a:t> </a:t>
            </a:r>
            <a:r>
              <a:rPr sz="6950" spc="160" dirty="0">
                <a:latin typeface="Calibri"/>
                <a:cs typeface="Calibri"/>
              </a:rPr>
              <a:t>delivery</a:t>
            </a:r>
            <a:r>
              <a:rPr sz="6950" spc="229" dirty="0">
                <a:latin typeface="Calibri"/>
                <a:cs typeface="Calibri"/>
              </a:rPr>
              <a:t> </a:t>
            </a:r>
            <a:r>
              <a:rPr sz="6950" spc="305" dirty="0">
                <a:latin typeface="Calibri"/>
                <a:cs typeface="Calibri"/>
              </a:rPr>
              <a:t>economy,</a:t>
            </a:r>
            <a:r>
              <a:rPr sz="6950" spc="385" dirty="0">
                <a:latin typeface="Calibri"/>
                <a:cs typeface="Calibri"/>
              </a:rPr>
              <a:t> </a:t>
            </a:r>
            <a:r>
              <a:rPr sz="6950" spc="95" dirty="0">
                <a:latin typeface="Calibri"/>
                <a:cs typeface="Calibri"/>
              </a:rPr>
              <a:t>the</a:t>
            </a:r>
            <a:endParaRPr sz="69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706" y="4664779"/>
            <a:ext cx="20080605" cy="824865"/>
          </a:xfrm>
          <a:custGeom>
            <a:avLst/>
            <a:gdLst/>
            <a:ahLst/>
            <a:cxnLst/>
            <a:rect l="l" t="t" r="r" b="b"/>
            <a:pathLst>
              <a:path w="20080605" h="824864">
                <a:moveTo>
                  <a:pt x="20080541" y="824582"/>
                </a:moveTo>
                <a:lnTo>
                  <a:pt x="0" y="82458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245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706" y="5764222"/>
            <a:ext cx="20080605" cy="824865"/>
          </a:xfrm>
          <a:custGeom>
            <a:avLst/>
            <a:gdLst/>
            <a:ahLst/>
            <a:cxnLst/>
            <a:rect l="l" t="t" r="r" b="b"/>
            <a:pathLst>
              <a:path w="20080605" h="824865">
                <a:moveTo>
                  <a:pt x="20080541" y="824582"/>
                </a:moveTo>
                <a:lnTo>
                  <a:pt x="0" y="82458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245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706" y="6832252"/>
            <a:ext cx="20080605" cy="856615"/>
          </a:xfrm>
          <a:custGeom>
            <a:avLst/>
            <a:gdLst/>
            <a:ahLst/>
            <a:cxnLst/>
            <a:rect l="l" t="t" r="r" b="b"/>
            <a:pathLst>
              <a:path w="20080605" h="856615">
                <a:moveTo>
                  <a:pt x="20080541" y="855994"/>
                </a:moveTo>
                <a:lnTo>
                  <a:pt x="0" y="85599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55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068611" y="4340570"/>
            <a:ext cx="13936344" cy="332105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065" marR="5080" algn="ctr">
              <a:lnSpc>
                <a:spcPts val="8660"/>
              </a:lnSpc>
              <a:spcBef>
                <a:spcPts val="185"/>
              </a:spcBef>
              <a:tabLst>
                <a:tab pos="6957695" algn="l"/>
              </a:tabLst>
            </a:pPr>
            <a:r>
              <a:rPr sz="7200" dirty="0">
                <a:solidFill>
                  <a:srgbClr val="FFFFFF"/>
                </a:solidFill>
                <a:latin typeface="Arial MT"/>
                <a:cs typeface="Arial MT"/>
              </a:rPr>
              <a:t>brand</a:t>
            </a:r>
            <a:r>
              <a:rPr sz="720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200" spc="5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72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200" dirty="0">
                <a:solidFill>
                  <a:srgbClr val="FFFFFF"/>
                </a:solidFill>
                <a:latin typeface="Arial MT"/>
                <a:cs typeface="Arial MT"/>
              </a:rPr>
              <a:t>maintains</a:t>
            </a:r>
            <a:r>
              <a:rPr sz="7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200" spc="-25" dirty="0">
                <a:solidFill>
                  <a:srgbClr val="FFFFFF"/>
                </a:solidFill>
                <a:latin typeface="Arial MT"/>
                <a:cs typeface="Arial MT"/>
              </a:rPr>
              <a:t>its</a:t>
            </a:r>
            <a:r>
              <a:rPr sz="7200" spc="-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200" spc="-590" dirty="0">
                <a:solidFill>
                  <a:srgbClr val="F27B1A"/>
                </a:solidFill>
                <a:latin typeface="Arial MT"/>
                <a:cs typeface="Arial MT"/>
              </a:rPr>
              <a:t>ratinoy</a:t>
            </a:r>
            <a:r>
              <a:rPr sz="7200" spc="409" dirty="0">
                <a:solidFill>
                  <a:srgbClr val="F27B1A"/>
                </a:solidFill>
                <a:latin typeface="Arial MT"/>
                <a:cs typeface="Arial MT"/>
              </a:rPr>
              <a:t> </a:t>
            </a:r>
            <a:r>
              <a:rPr sz="7200" spc="-275" dirty="0">
                <a:solidFill>
                  <a:srgbClr val="FFFFFF"/>
                </a:solidFill>
                <a:latin typeface="Arial MT"/>
                <a:cs typeface="Arial MT"/>
              </a:rPr>
              <a:t>wins </a:t>
            </a:r>
            <a:r>
              <a:rPr sz="6950" spc="12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695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950" spc="150" dirty="0">
                <a:solidFill>
                  <a:srgbClr val="FFFFFF"/>
                </a:solidFill>
                <a:latin typeface="Calibri"/>
                <a:cs typeface="Calibri"/>
              </a:rPr>
              <a:t>war.</a:t>
            </a:r>
            <a:r>
              <a:rPr sz="6950" spc="-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950" spc="160" dirty="0">
                <a:solidFill>
                  <a:srgbClr val="FFFFFF"/>
                </a:solidFill>
                <a:latin typeface="Calibri"/>
                <a:cs typeface="Calibri"/>
              </a:rPr>
              <a:t>Price</a:t>
            </a:r>
            <a:r>
              <a:rPr sz="695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950" spc="6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6950" spc="-17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6950" spc="6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69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6950" spc="75" dirty="0">
                <a:solidFill>
                  <a:srgbClr val="FFFFFF"/>
                </a:solidFill>
                <a:latin typeface="Calibri"/>
                <a:cs typeface="Calibri"/>
              </a:rPr>
              <a:t>lever,</a:t>
            </a:r>
            <a:r>
              <a:rPr sz="69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950" spc="28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69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950" spc="229" dirty="0">
                <a:solidFill>
                  <a:srgbClr val="DF8C46"/>
                </a:solidFill>
                <a:latin typeface="Calibri"/>
                <a:cs typeface="Calibri"/>
              </a:rPr>
              <a:t>quaìity </a:t>
            </a:r>
            <a:r>
              <a:rPr sz="7050" spc="17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705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50" spc="6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705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50" spc="-65" dirty="0">
                <a:solidFill>
                  <a:srgbClr val="FFFFFF"/>
                </a:solidFill>
                <a:latin typeface="Calibri"/>
                <a:cs typeface="Calibri"/>
              </a:rPr>
              <a:t>pivot.“</a:t>
            </a:r>
            <a:endParaRPr sz="70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706" y="8528536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53133" y="8397384"/>
            <a:ext cx="5588000" cy="516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spc="-700" dirty="0">
                <a:solidFill>
                  <a:srgbClr val="B8B8B8"/>
                </a:solidFill>
                <a:latin typeface="Calibri"/>
                <a:cs typeface="Calibri"/>
              </a:rPr>
              <a:t>—</a:t>
            </a:r>
            <a:r>
              <a:rPr sz="3200" spc="210" dirty="0">
                <a:solidFill>
                  <a:srgbClr val="B8B8B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B1B1B1"/>
                </a:solidFill>
                <a:latin typeface="Calibri"/>
                <a:cs typeface="Calibri"/>
              </a:rPr>
              <a:t>Swiggy</a:t>
            </a:r>
            <a:r>
              <a:rPr sz="3200" spc="-145" dirty="0">
                <a:solidFill>
                  <a:srgbClr val="B1B1B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B5B5B5"/>
                </a:solidFill>
                <a:latin typeface="Calibri"/>
                <a:cs typeface="Calibri"/>
              </a:rPr>
              <a:t>Strategic</a:t>
            </a:r>
            <a:r>
              <a:rPr sz="3200" spc="-10" dirty="0">
                <a:solidFill>
                  <a:srgbClr val="B5B5B5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BCBCBC"/>
                </a:solidFill>
                <a:latin typeface="Calibri"/>
                <a:cs typeface="Calibri"/>
              </a:rPr>
              <a:t>Insights</a:t>
            </a:r>
            <a:r>
              <a:rPr sz="3200" spc="25" dirty="0">
                <a:solidFill>
                  <a:srgbClr val="BCBCBC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B3B3B3"/>
                </a:solidFill>
                <a:latin typeface="Calibri"/>
                <a:cs typeface="Calibri"/>
              </a:rPr>
              <a:t>Group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2858551"/>
            <a:ext cx="20088393" cy="1350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706" y="5465802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25696" y="5318289"/>
            <a:ext cx="8212754" cy="10438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350" spc="-80" dirty="0">
                <a:latin typeface="Calibri"/>
                <a:cs typeface="Calibri"/>
              </a:rPr>
              <a:t>Have got any questions or any queries?</a:t>
            </a:r>
            <a:br>
              <a:rPr lang="en-IN" sz="3350" spc="-80" dirty="0">
                <a:latin typeface="Calibri"/>
                <a:cs typeface="Calibri"/>
              </a:rPr>
            </a:br>
            <a:r>
              <a:rPr lang="en-IN" sz="3350" spc="-80" dirty="0">
                <a:latin typeface="Calibri"/>
                <a:cs typeface="Calibri"/>
              </a:rPr>
              <a:t>Please reach out to me</a:t>
            </a:r>
            <a:endParaRPr sz="335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706" y="7523331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706" y="8340059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42250" y="6429790"/>
            <a:ext cx="4184650" cy="12548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985" algn="ctr">
              <a:lnSpc>
                <a:spcPct val="100000"/>
              </a:lnSpc>
              <a:spcBef>
                <a:spcPts val="3190"/>
              </a:spcBef>
            </a:pPr>
            <a:endParaRPr lang="en-IN" sz="2700" spc="-10" dirty="0">
              <a:solidFill>
                <a:srgbClr val="D1D1D1"/>
              </a:solidFill>
              <a:latin typeface="Calibri"/>
              <a:cs typeface="Calibri"/>
            </a:endParaRPr>
          </a:p>
          <a:p>
            <a:pPr marR="6985" algn="ctr">
              <a:lnSpc>
                <a:spcPct val="100000"/>
              </a:lnSpc>
              <a:spcBef>
                <a:spcPts val="3190"/>
              </a:spcBef>
            </a:pPr>
            <a:r>
              <a:rPr lang="en-IN" sz="2700" spc="-10" dirty="0">
                <a:solidFill>
                  <a:srgbClr val="D1D1D1"/>
                </a:solidFill>
                <a:latin typeface="Calibri"/>
                <a:cs typeface="Calibri"/>
              </a:rPr>
              <a:t>ashikmasharaf@outlook.com</a:t>
            </a:r>
            <a:endParaRPr sz="2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4D4D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584</Words>
  <Application>Microsoft Office PowerPoint</Application>
  <PresentationFormat>Custom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Algerian</vt:lpstr>
      <vt:lpstr>Arial MT</vt:lpstr>
      <vt:lpstr>Arial Rounded MT Bold</vt:lpstr>
      <vt:lpstr>Calibri</vt:lpstr>
      <vt:lpstr>Cambria</vt:lpstr>
      <vt:lpstr>Consolas</vt:lpstr>
      <vt:lpstr>Office Theme</vt:lpstr>
      <vt:lpstr>HYPER   LOCAL   RESTAURANT SUCCESS   PREDICTION</vt:lpstr>
      <vt:lpstr>THE BOTTOM LINE</vt:lpstr>
      <vt:lpstr>t METHODOLOGY &amp; DATA PIPELINE</vt:lpstr>
      <vt:lpstr>t MARKET SEGMENTATION</vt:lpstr>
      <vt:lpstr>t THE ROI NORTH STAR</vt:lpstr>
      <vt:lpstr>t SUCCESS DRIVERS: QUALITY VS PRICE</vt:lpstr>
      <vt:lpstr>t LOCAL MARKET GOLD MINES</vt:lpstr>
      <vt:lpstr>t STRATEGIC LOCATION</vt:lpstr>
      <vt:lpstr>t TACTICAL EXECUTION PLAN</vt:lpstr>
      <vt:lpstr>t SEASONAL REVENUE DYNAMICS</vt:lpstr>
      <vt:lpstr>''In the 2026 delivery economy, the</vt:lpstr>
      <vt:lpstr>Have got any questions or any queries? Please reach out to 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ashik .m.asharaf</cp:lastModifiedBy>
  <cp:revision>1</cp:revision>
  <dcterms:created xsi:type="dcterms:W3CDTF">2026-05-13T12:11:04Z</dcterms:created>
  <dcterms:modified xsi:type="dcterms:W3CDTF">2026-05-13T12:31:06Z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2026-05-13T00:00:00Z</vt:filetime>
  </property>
  <property fmtid="{D5CDD505-2E9C-101B-9397-08002B2CF9AE}" pid="3" name="LastSaved">
    <vt:filetime>2026-05-13T00:00:00Z</vt:filetime>
  </property>
</Properties>
</file>